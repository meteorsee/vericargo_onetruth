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1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FD67E7-3DEC-3E61-BC38-A423B679F3D9}"/>
              </a:ext>
            </a:extLst>
          </p:cNvPr>
          <p:cNvSpPr txBox="1"/>
          <p:nvPr/>
        </p:nvSpPr>
        <p:spPr>
          <a:xfrm>
            <a:off x="457200" y="3124200"/>
            <a:ext cx="8128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2700" b="1" dirty="0">
                <a:solidFill>
                  <a:srgbClr val="051B37"/>
                </a:solidFill>
                <a:latin typeface="Aptos" panose="020B0004020202020204" pitchFamily="34" charset="0"/>
              </a:rPr>
              <a:t>VERICARGO ONETRUTH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2A2C6-C020-2A10-9FC9-1195BC8E6B5B}"/>
              </a:ext>
            </a:extLst>
          </p:cNvPr>
          <p:cNvSpPr txBox="1"/>
          <p:nvPr/>
        </p:nvSpPr>
        <p:spPr>
          <a:xfrm>
            <a:off x="457200" y="3581400"/>
            <a:ext cx="812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2178F6"/>
                </a:solidFill>
                <a:latin typeface="Aptos" panose="020B0004020202020204" pitchFamily="34" charset="0"/>
              </a:rPr>
              <a:t>Governed Supply Chain Ontology and Exception Copilot</a:t>
            </a:r>
            <a:endParaRPr lang="en-MY" sz="1600" b="1" dirty="0">
              <a:solidFill>
                <a:srgbClr val="2178F6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973CF-E08E-8EAA-A167-0C351B8622DC}"/>
              </a:ext>
            </a:extLst>
          </p:cNvPr>
          <p:cNvSpPr txBox="1"/>
          <p:nvPr/>
        </p:nvSpPr>
        <p:spPr>
          <a:xfrm>
            <a:off x="457200" y="3949700"/>
            <a:ext cx="812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>
                <a:solidFill>
                  <a:srgbClr val="19232D"/>
                </a:solidFill>
                <a:latin typeface="Aptos" panose="020B0004020202020204" pitchFamily="34" charset="0"/>
              </a:rPr>
              <a:t>One shipment. Two destinations. One governed truth.</a:t>
            </a:r>
            <a:endParaRPr lang="en-MY" dirty="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2417A-5623-3A9F-B697-41F4483D5AA3}"/>
              </a:ext>
            </a:extLst>
          </p:cNvPr>
          <p:cNvSpPr txBox="1"/>
          <p:nvPr/>
        </p:nvSpPr>
        <p:spPr>
          <a:xfrm>
            <a:off x="457200" y="4356100"/>
            <a:ext cx="812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576777"/>
                </a:solidFill>
                <a:latin typeface="Aptos" panose="020B0004020202020204" pitchFamily="34" charset="0"/>
              </a:rPr>
              <a:t>Challenge: Supply Chain Ontology and Governed Conversational Analytics</a:t>
            </a:r>
            <a:endParaRPr lang="en-MY" sz="950" b="1">
              <a:solidFill>
                <a:srgbClr val="57677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4DDDE-3202-D971-52CC-D504C88A407E}"/>
              </a:ext>
            </a:extLst>
          </p:cNvPr>
          <p:cNvSpPr txBox="1"/>
          <p:nvPr/>
        </p:nvSpPr>
        <p:spPr>
          <a:xfrm>
            <a:off x="457200" y="4635500"/>
            <a:ext cx="812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dirty="0">
                <a:solidFill>
                  <a:srgbClr val="576777"/>
                </a:solidFill>
                <a:latin typeface="Aptos" panose="020B0004020202020204" pitchFamily="34" charset="0"/>
              </a:rPr>
              <a:t>Team: </a:t>
            </a:r>
            <a:r>
              <a:rPr lang="en-US" sz="900" dirty="0" err="1">
                <a:solidFill>
                  <a:srgbClr val="576777"/>
                </a:solidFill>
                <a:latin typeface="Aptos" panose="020B0004020202020204" pitchFamily="34" charset="0"/>
              </a:rPr>
              <a:t>VeriCargo</a:t>
            </a:r>
            <a:r>
              <a:rPr lang="en-US" sz="900" dirty="0">
                <a:solidFill>
                  <a:srgbClr val="576777"/>
                </a:solidFill>
                <a:latin typeface="Aptos" panose="020B0004020202020204" pitchFamily="34" charset="0"/>
              </a:rPr>
              <a:t>   |   Team Lead: See Keng Lek   |   Team size: 1</a:t>
            </a:r>
            <a:endParaRPr lang="en-MY" sz="900" dirty="0">
              <a:solidFill>
                <a:srgbClr val="576777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385834-6827-614E-F489-6B65E93C67BC}"/>
              </a:ext>
            </a:extLst>
          </p:cNvPr>
          <p:cNvSpPr txBox="1"/>
          <p:nvPr/>
        </p:nvSpPr>
        <p:spPr>
          <a:xfrm>
            <a:off x="406400" y="5969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950" b="1">
                <a:solidFill>
                  <a:srgbClr val="2178F6"/>
                </a:solidFill>
                <a:latin typeface="Aptos" panose="020B0004020202020204" pitchFamily="34" charset="0"/>
              </a:rPr>
              <a:t>01 | BUSINESS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B71C45-DB2F-017D-A3A0-7D57793ADF1F}"/>
              </a:ext>
            </a:extLst>
          </p:cNvPr>
          <p:cNvSpPr txBox="1"/>
          <p:nvPr/>
        </p:nvSpPr>
        <p:spPr>
          <a:xfrm>
            <a:off x="406400" y="7874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51B37"/>
                </a:solidFill>
                <a:latin typeface="Aptos" panose="020B0004020202020204" pitchFamily="34" charset="0"/>
              </a:rPr>
              <a:t>Fragmented truth blocks timely action</a:t>
            </a:r>
            <a:endParaRPr lang="en-MY" sz="2400" b="1">
              <a:solidFill>
                <a:srgbClr val="051B37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9A1FF6-F7C3-EAFE-A1A2-443999BA5E46}"/>
              </a:ext>
            </a:extLst>
          </p:cNvPr>
          <p:cNvCxnSpPr/>
          <p:nvPr/>
        </p:nvCxnSpPr>
        <p:spPr>
          <a:xfrm>
            <a:off x="406400" y="1219200"/>
            <a:ext cx="8331200" cy="0"/>
          </a:xfrm>
          <a:prstGeom prst="line">
            <a:avLst/>
          </a:prstGeom>
          <a:ln w="25400">
            <a:solidFill>
              <a:srgbClr val="26B7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446F335-9370-CC33-CB24-058728E912D2}"/>
              </a:ext>
            </a:extLst>
          </p:cNvPr>
          <p:cNvSpPr txBox="1"/>
          <p:nvPr/>
        </p:nvSpPr>
        <p:spPr>
          <a:xfrm>
            <a:off x="508000" y="1371600"/>
            <a:ext cx="812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50" b="1">
                <a:solidFill>
                  <a:srgbClr val="051B37"/>
                </a:solidFill>
                <a:latin typeface="Aptos" panose="020B0004020202020204" pitchFamily="34" charset="0"/>
              </a:rPr>
              <a:t>ERP says delivered. The Shipping Instruction says Vietnam. The Draft Bill of Lading says Thailand. Which version should the business trust?</a:t>
            </a:r>
            <a:endParaRPr lang="en-MY" sz="1550" b="1">
              <a:solidFill>
                <a:srgbClr val="051B3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F32647-48A3-E262-1DBD-EA2CE2671BC5}"/>
              </a:ext>
            </a:extLst>
          </p:cNvPr>
          <p:cNvSpPr/>
          <p:nvPr/>
        </p:nvSpPr>
        <p:spPr>
          <a:xfrm>
            <a:off x="482600" y="2006600"/>
            <a:ext cx="2552700" cy="1270000"/>
          </a:xfrm>
          <a:prstGeom prst="roundRect">
            <a:avLst/>
          </a:prstGeom>
          <a:solidFill>
            <a:srgbClr val="EBF6FC"/>
          </a:solidFill>
          <a:ln w="15875">
            <a:solidFill>
              <a:srgbClr val="26B7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37F99E-815D-FB6C-C715-78C900209186}"/>
              </a:ext>
            </a:extLst>
          </p:cNvPr>
          <p:cNvSpPr/>
          <p:nvPr/>
        </p:nvSpPr>
        <p:spPr>
          <a:xfrm>
            <a:off x="482600" y="2006600"/>
            <a:ext cx="76200" cy="1270000"/>
          </a:xfrm>
          <a:prstGeom prst="rect">
            <a:avLst/>
          </a:prstGeom>
          <a:solidFill>
            <a:srgbClr val="26B7E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27169F-4339-92C6-E26B-A579FFA0908F}"/>
              </a:ext>
            </a:extLst>
          </p:cNvPr>
          <p:cNvSpPr txBox="1"/>
          <p:nvPr/>
        </p:nvSpPr>
        <p:spPr>
          <a:xfrm>
            <a:off x="673100" y="2120900"/>
            <a:ext cx="223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 dirty="0">
                <a:solidFill>
                  <a:srgbClr val="26B7ED"/>
                </a:solidFill>
                <a:latin typeface="Aptos" panose="020B0004020202020204" pitchFamily="34" charset="0"/>
              </a:rPr>
              <a:t>FRAGMENTED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3715CF-C11C-724F-3430-1C288191CA6D}"/>
              </a:ext>
            </a:extLst>
          </p:cNvPr>
          <p:cNvSpPr txBox="1"/>
          <p:nvPr/>
        </p:nvSpPr>
        <p:spPr>
          <a:xfrm>
            <a:off x="673100" y="2463800"/>
            <a:ext cx="22352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dirty="0">
                <a:solidFill>
                  <a:srgbClr val="19232D"/>
                </a:solidFill>
                <a:latin typeface="Aptos" panose="020B0004020202020204" pitchFamily="34" charset="0"/>
              </a:rPr>
              <a:t>ERP, logistics, inventory, cost and shipping documents sit in separate systems with inconsistent identifiers.</a:t>
            </a:r>
            <a:endParaRPr lang="en-MY" sz="1050" dirty="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5F0C49-DDF8-36D0-DACF-1E5C50B12543}"/>
              </a:ext>
            </a:extLst>
          </p:cNvPr>
          <p:cNvSpPr/>
          <p:nvPr/>
        </p:nvSpPr>
        <p:spPr>
          <a:xfrm>
            <a:off x="3289300" y="2006600"/>
            <a:ext cx="2552700" cy="1270000"/>
          </a:xfrm>
          <a:prstGeom prst="roundRect">
            <a:avLst/>
          </a:prstGeom>
          <a:solidFill>
            <a:srgbClr val="F2EEFF"/>
          </a:solidFill>
          <a:ln w="15875">
            <a:solidFill>
              <a:srgbClr val="7C5A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0AE742-5930-A97A-A49E-81400774EA29}"/>
              </a:ext>
            </a:extLst>
          </p:cNvPr>
          <p:cNvSpPr/>
          <p:nvPr/>
        </p:nvSpPr>
        <p:spPr>
          <a:xfrm>
            <a:off x="3289300" y="2006600"/>
            <a:ext cx="76200" cy="1270000"/>
          </a:xfrm>
          <a:prstGeom prst="rect">
            <a:avLst/>
          </a:prstGeom>
          <a:solidFill>
            <a:srgbClr val="7C5AE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6E944-1214-1B47-D32F-C101C25F9439}"/>
              </a:ext>
            </a:extLst>
          </p:cNvPr>
          <p:cNvSpPr txBox="1"/>
          <p:nvPr/>
        </p:nvSpPr>
        <p:spPr>
          <a:xfrm>
            <a:off x="3479800" y="2120900"/>
            <a:ext cx="223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7C5AEB"/>
                </a:solidFill>
                <a:latin typeface="Aptos" panose="020B0004020202020204" pitchFamily="34" charset="0"/>
              </a:rPr>
              <a:t>INCONSISTENT METRICS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77FAD-3C62-E64C-B97E-6A692203F979}"/>
              </a:ext>
            </a:extLst>
          </p:cNvPr>
          <p:cNvSpPr txBox="1"/>
          <p:nvPr/>
        </p:nvSpPr>
        <p:spPr>
          <a:xfrm>
            <a:off x="3479800" y="2463800"/>
            <a:ext cx="22352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19232D"/>
                </a:solidFill>
                <a:latin typeface="Aptos" panose="020B0004020202020204" pitchFamily="34" charset="0"/>
              </a:rPr>
              <a:t>Operations, procurement and planning can receive different answers for the same delivery-performance question.</a:t>
            </a:r>
            <a:endParaRPr lang="en-MY" sz="105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748B00-94A7-7F73-21A2-2B51D2D443D0}"/>
              </a:ext>
            </a:extLst>
          </p:cNvPr>
          <p:cNvSpPr/>
          <p:nvPr/>
        </p:nvSpPr>
        <p:spPr>
          <a:xfrm>
            <a:off x="6096000" y="2006600"/>
            <a:ext cx="2552700" cy="1270000"/>
          </a:xfrm>
          <a:prstGeom prst="roundRect">
            <a:avLst/>
          </a:prstGeom>
          <a:solidFill>
            <a:srgbClr val="FFE8EB"/>
          </a:solidFill>
          <a:ln w="15875">
            <a:solidFill>
              <a:srgbClr val="EF5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4364E5-FB14-FDE4-9B5E-B213606CADDC}"/>
              </a:ext>
            </a:extLst>
          </p:cNvPr>
          <p:cNvSpPr/>
          <p:nvPr/>
        </p:nvSpPr>
        <p:spPr>
          <a:xfrm>
            <a:off x="6096000" y="2006600"/>
            <a:ext cx="76200" cy="1270000"/>
          </a:xfrm>
          <a:prstGeom prst="rect">
            <a:avLst/>
          </a:prstGeom>
          <a:solidFill>
            <a:srgbClr val="EF536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64F44-D068-CE79-187F-26FAAE6A153F}"/>
              </a:ext>
            </a:extLst>
          </p:cNvPr>
          <p:cNvSpPr txBox="1"/>
          <p:nvPr/>
        </p:nvSpPr>
        <p:spPr>
          <a:xfrm>
            <a:off x="6286500" y="2120900"/>
            <a:ext cx="223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EF5362"/>
                </a:solidFill>
                <a:latin typeface="Aptos" panose="020B0004020202020204" pitchFamily="34" charset="0"/>
              </a:rPr>
              <a:t>UNSAFE EXCEPTIONS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46C23B-CD87-FBBB-4F2C-C98E6F5C9EA8}"/>
              </a:ext>
            </a:extLst>
          </p:cNvPr>
          <p:cNvSpPr txBox="1"/>
          <p:nvPr/>
        </p:nvSpPr>
        <p:spPr>
          <a:xfrm>
            <a:off x="6286500" y="2463800"/>
            <a:ext cx="223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19232D"/>
                </a:solidFill>
                <a:latin typeface="Aptos" panose="020B0004020202020204" pitchFamily="34" charset="0"/>
              </a:rPr>
              <a:t>Missing, unreadable or ambiguous evidence is often guessed, ignored or handled through untracked manual follow-up.</a:t>
            </a:r>
            <a:endParaRPr lang="en-MY" sz="105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AB5836-3A1A-EEBC-7E1B-E7C67404215C}"/>
              </a:ext>
            </a:extLst>
          </p:cNvPr>
          <p:cNvSpPr txBox="1"/>
          <p:nvPr/>
        </p:nvSpPr>
        <p:spPr>
          <a:xfrm>
            <a:off x="508000" y="3517900"/>
            <a:ext cx="1397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950" b="1">
                <a:solidFill>
                  <a:srgbClr val="2178F6"/>
                </a:solidFill>
                <a:latin typeface="Aptos" panose="020B0004020202020204" pitchFamily="34" charset="0"/>
              </a:rPr>
              <a:t>TARGET 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310BF-902F-99EF-D4B4-78FCB40BBDF7}"/>
              </a:ext>
            </a:extLst>
          </p:cNvPr>
          <p:cNvSpPr txBox="1"/>
          <p:nvPr/>
        </p:nvSpPr>
        <p:spPr>
          <a:xfrm>
            <a:off x="1841500" y="3492500"/>
            <a:ext cx="679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9232D"/>
                </a:solidFill>
                <a:latin typeface="Aptos" panose="020B0004020202020204" pitchFamily="34" charset="0"/>
              </a:rPr>
              <a:t>Logistics control tower   |   Procurement   |   Planning   |   Document operations</a:t>
            </a:r>
            <a:endParaRPr lang="en-MY" sz="1200" b="1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276C83D-470F-1041-95FB-406A5C6227B7}"/>
              </a:ext>
            </a:extLst>
          </p:cNvPr>
          <p:cNvSpPr/>
          <p:nvPr/>
        </p:nvSpPr>
        <p:spPr>
          <a:xfrm>
            <a:off x="482600" y="3898900"/>
            <a:ext cx="8166100" cy="736600"/>
          </a:xfrm>
          <a:prstGeom prst="roundRect">
            <a:avLst/>
          </a:prstGeom>
          <a:solidFill>
            <a:srgbClr val="051B37"/>
          </a:solidFill>
          <a:ln w="15875">
            <a:solidFill>
              <a:srgbClr val="051B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5DC16A-B210-A7A0-8AFC-7636EEFEAC7C}"/>
              </a:ext>
            </a:extLst>
          </p:cNvPr>
          <p:cNvSpPr txBox="1"/>
          <p:nvPr/>
        </p:nvSpPr>
        <p:spPr>
          <a:xfrm>
            <a:off x="698500" y="4051300"/>
            <a:ext cx="1714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900" b="1">
                <a:solidFill>
                  <a:srgbClr val="26B7ED"/>
                </a:solidFill>
                <a:latin typeface="Aptos" panose="020B0004020202020204" pitchFamily="34" charset="0"/>
              </a:rPr>
              <a:t>ONE GOVERNED ROUTE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4EEF45-B42E-5FBA-6DCA-32A3123DA4F8}"/>
              </a:ext>
            </a:extLst>
          </p:cNvPr>
          <p:cNvSpPr txBox="1"/>
          <p:nvPr/>
        </p:nvSpPr>
        <p:spPr>
          <a:xfrm>
            <a:off x="698500" y="4279900"/>
            <a:ext cx="7721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</a:rPr>
              <a:t>Detect contradiction  -&gt;  preserve evidence  -&gt;  explain with governed AI  -&gt;  human-confirm action  -&gt;  audit outcome</a:t>
            </a:r>
            <a:endParaRPr lang="en-MY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AE0A86-5B3D-33EC-AD1D-CE66096CAF04}"/>
              </a:ext>
            </a:extLst>
          </p:cNvPr>
          <p:cNvSpPr txBox="1"/>
          <p:nvPr/>
        </p:nvSpPr>
        <p:spPr>
          <a:xfrm>
            <a:off x="406400" y="4940300"/>
            <a:ext cx="317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750" dirty="0" err="1">
                <a:solidFill>
                  <a:srgbClr val="576777"/>
                </a:solidFill>
                <a:latin typeface="Aptos" panose="020B0004020202020204" pitchFamily="34" charset="0"/>
              </a:rPr>
              <a:t>VeriCargo</a:t>
            </a:r>
            <a:r>
              <a:rPr lang="en-MY" sz="750" dirty="0">
                <a:solidFill>
                  <a:srgbClr val="576777"/>
                </a:solidFill>
                <a:latin typeface="Aptos" panose="020B0004020202020204" pitchFamily="34" charset="0"/>
              </a:rPr>
              <a:t> </a:t>
            </a:r>
            <a:r>
              <a:rPr lang="en-MY" sz="750" dirty="0" err="1">
                <a:solidFill>
                  <a:srgbClr val="576777"/>
                </a:solidFill>
                <a:latin typeface="Aptos" panose="020B0004020202020204" pitchFamily="34" charset="0"/>
              </a:rPr>
              <a:t>OneTruth</a:t>
            </a:r>
            <a:endParaRPr lang="en-MY" sz="750" dirty="0">
              <a:solidFill>
                <a:srgbClr val="576777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16E4A5-EA05-ED20-C5E4-9D4754F8E4FB}"/>
              </a:ext>
            </a:extLst>
          </p:cNvPr>
          <p:cNvSpPr txBox="1"/>
          <p:nvPr/>
        </p:nvSpPr>
        <p:spPr>
          <a:xfrm>
            <a:off x="8382000" y="4927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800" b="1">
                <a:solidFill>
                  <a:srgbClr val="2178F6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2284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583BBA-684B-7D42-64AD-D35CFC8DFE41}"/>
              </a:ext>
            </a:extLst>
          </p:cNvPr>
          <p:cNvSpPr txBox="1"/>
          <p:nvPr/>
        </p:nvSpPr>
        <p:spPr>
          <a:xfrm>
            <a:off x="406400" y="5969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950" b="1">
                <a:solidFill>
                  <a:srgbClr val="2178F6"/>
                </a:solidFill>
                <a:latin typeface="Aptos" panose="020B0004020202020204" pitchFamily="34" charset="0"/>
              </a:rPr>
              <a:t>02 | SNOWFLAKE-NATIVE SYSTEM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7EF8D-C48D-60EF-74F6-C9B755E933C7}"/>
              </a:ext>
            </a:extLst>
          </p:cNvPr>
          <p:cNvSpPr txBox="1"/>
          <p:nvPr/>
        </p:nvSpPr>
        <p:spPr>
          <a:xfrm>
            <a:off x="406400" y="7874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2400" b="1">
                <a:solidFill>
                  <a:srgbClr val="051B37"/>
                </a:solidFill>
                <a:latin typeface="Aptos" panose="020B0004020202020204" pitchFamily="34" charset="0"/>
              </a:rPr>
              <a:t>Connected evidence-to-action architecture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1E6B7E-7357-B54F-614E-C7F096B0C6B1}"/>
              </a:ext>
            </a:extLst>
          </p:cNvPr>
          <p:cNvCxnSpPr/>
          <p:nvPr/>
        </p:nvCxnSpPr>
        <p:spPr>
          <a:xfrm>
            <a:off x="406400" y="1219200"/>
            <a:ext cx="8331200" cy="0"/>
          </a:xfrm>
          <a:prstGeom prst="line">
            <a:avLst/>
          </a:prstGeom>
          <a:ln w="25400">
            <a:solidFill>
              <a:srgbClr val="26B7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67AE7B2-B2EC-CD5A-510D-D24895388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308100"/>
            <a:ext cx="5486400" cy="342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4B0B81-BF94-630A-A5B8-F7A383C1B4F1}"/>
              </a:ext>
            </a:extLst>
          </p:cNvPr>
          <p:cNvSpPr txBox="1"/>
          <p:nvPr/>
        </p:nvSpPr>
        <p:spPr>
          <a:xfrm>
            <a:off x="1104900" y="4762500"/>
            <a:ext cx="69342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80" b="1">
                <a:solidFill>
                  <a:srgbClr val="576777"/>
                </a:solidFill>
                <a:latin typeface="Aptos" panose="020B0004020202020204" pitchFamily="34" charset="0"/>
              </a:rPr>
              <a:t>CoCo builds and verifies the solution; Snowflake runs the governed production workflow.</a:t>
            </a:r>
            <a:endParaRPr lang="en-MY" sz="880" b="1">
              <a:solidFill>
                <a:srgbClr val="576777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14772-50DA-788D-4724-29464B158FE6}"/>
              </a:ext>
            </a:extLst>
          </p:cNvPr>
          <p:cNvSpPr txBox="1"/>
          <p:nvPr/>
        </p:nvSpPr>
        <p:spPr>
          <a:xfrm>
            <a:off x="406400" y="4940300"/>
            <a:ext cx="317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750">
                <a:solidFill>
                  <a:srgbClr val="576777"/>
                </a:solidFill>
                <a:latin typeface="Aptos" panose="020B0004020202020204" pitchFamily="34" charset="0"/>
              </a:rPr>
              <a:t>VeriCargo OneTruth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C2FE6-241D-0589-CA45-042768333034}"/>
              </a:ext>
            </a:extLst>
          </p:cNvPr>
          <p:cNvSpPr txBox="1"/>
          <p:nvPr/>
        </p:nvSpPr>
        <p:spPr>
          <a:xfrm>
            <a:off x="8382000" y="4927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800" b="1">
                <a:solidFill>
                  <a:srgbClr val="2178F6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668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5B01CB-1A1E-B0AA-8A28-9C3E764E5A63}"/>
              </a:ext>
            </a:extLst>
          </p:cNvPr>
          <p:cNvSpPr txBox="1"/>
          <p:nvPr/>
        </p:nvSpPr>
        <p:spPr>
          <a:xfrm>
            <a:off x="406400" y="5969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950" b="1">
                <a:solidFill>
                  <a:srgbClr val="2178F6"/>
                </a:solidFill>
                <a:latin typeface="Aptos" panose="020B0004020202020204" pitchFamily="34" charset="0"/>
              </a:rPr>
              <a:t>03 | GOVERNED CONVERSATIONAL ANALYTICS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2C7E79-2E72-6DD3-A00C-EEEF6BC4DBEF}"/>
              </a:ext>
            </a:extLst>
          </p:cNvPr>
          <p:cNvSpPr txBox="1"/>
          <p:nvPr/>
        </p:nvSpPr>
        <p:spPr>
          <a:xfrm>
            <a:off x="406400" y="7874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51B37"/>
                </a:solidFill>
                <a:latin typeface="Aptos" panose="020B0004020202020204" pitchFamily="34" charset="0"/>
              </a:rPr>
              <a:t>One metric, three personas, one answer</a:t>
            </a:r>
            <a:endParaRPr lang="en-MY" sz="2400" b="1">
              <a:solidFill>
                <a:srgbClr val="051B37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13BC33-3ECC-4748-78DF-5F2F3332F743}"/>
              </a:ext>
            </a:extLst>
          </p:cNvPr>
          <p:cNvCxnSpPr/>
          <p:nvPr/>
        </p:nvCxnSpPr>
        <p:spPr>
          <a:xfrm>
            <a:off x="406400" y="1219200"/>
            <a:ext cx="8331200" cy="0"/>
          </a:xfrm>
          <a:prstGeom prst="line">
            <a:avLst/>
          </a:prstGeom>
          <a:ln w="25400">
            <a:solidFill>
              <a:srgbClr val="26B7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BE0A63-DD5C-FBD9-063C-4E0B86E9F2EA}"/>
              </a:ext>
            </a:extLst>
          </p:cNvPr>
          <p:cNvSpPr/>
          <p:nvPr/>
        </p:nvSpPr>
        <p:spPr>
          <a:xfrm>
            <a:off x="482600" y="1460500"/>
            <a:ext cx="2552700" cy="1511300"/>
          </a:xfrm>
          <a:prstGeom prst="roundRect">
            <a:avLst/>
          </a:prstGeom>
          <a:solidFill>
            <a:srgbClr val="EBF6FC"/>
          </a:solidFill>
          <a:ln w="15875">
            <a:solidFill>
              <a:srgbClr val="26B7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D2F4E1-2D38-8AA3-CA04-81DA83A6BADD}"/>
              </a:ext>
            </a:extLst>
          </p:cNvPr>
          <p:cNvSpPr/>
          <p:nvPr/>
        </p:nvSpPr>
        <p:spPr>
          <a:xfrm>
            <a:off x="482600" y="1460500"/>
            <a:ext cx="76200" cy="1511300"/>
          </a:xfrm>
          <a:prstGeom prst="rect">
            <a:avLst/>
          </a:prstGeom>
          <a:solidFill>
            <a:srgbClr val="26B7E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3C3F8-FCAF-647A-0A40-B7C98B3B2E92}"/>
              </a:ext>
            </a:extLst>
          </p:cNvPr>
          <p:cNvSpPr txBox="1"/>
          <p:nvPr/>
        </p:nvSpPr>
        <p:spPr>
          <a:xfrm>
            <a:off x="673100" y="1574800"/>
            <a:ext cx="223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26B7ED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0797F-BF81-CB14-8A96-EBA3189D2EFA}"/>
              </a:ext>
            </a:extLst>
          </p:cNvPr>
          <p:cNvSpPr txBox="1"/>
          <p:nvPr/>
        </p:nvSpPr>
        <p:spPr>
          <a:xfrm>
            <a:off x="673100" y="1917700"/>
            <a:ext cx="22352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19232D"/>
                </a:solidFill>
                <a:latin typeface="Aptos" panose="020B0004020202020204" pitchFamily="34" charset="0"/>
              </a:rPr>
              <a:t>"What is our on-time delivery rate for completed shipments?"</a:t>
            </a:r>
            <a:endParaRPr lang="en-MY" sz="115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91F539-F08C-B7C6-EA76-162961B2B2C9}"/>
              </a:ext>
            </a:extLst>
          </p:cNvPr>
          <p:cNvSpPr/>
          <p:nvPr/>
        </p:nvSpPr>
        <p:spPr>
          <a:xfrm>
            <a:off x="3289300" y="1460500"/>
            <a:ext cx="2552700" cy="1511300"/>
          </a:xfrm>
          <a:prstGeom prst="roundRect">
            <a:avLst/>
          </a:prstGeom>
          <a:solidFill>
            <a:srgbClr val="F2EEFF"/>
          </a:solidFill>
          <a:ln w="15875">
            <a:solidFill>
              <a:srgbClr val="7C5A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92ECCB-E777-61E4-D29A-81295AF973D1}"/>
              </a:ext>
            </a:extLst>
          </p:cNvPr>
          <p:cNvSpPr/>
          <p:nvPr/>
        </p:nvSpPr>
        <p:spPr>
          <a:xfrm>
            <a:off x="3289300" y="1460500"/>
            <a:ext cx="76200" cy="1511300"/>
          </a:xfrm>
          <a:prstGeom prst="rect">
            <a:avLst/>
          </a:prstGeom>
          <a:solidFill>
            <a:srgbClr val="7C5AE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04299-CF80-9CD9-213F-4A448D64D867}"/>
              </a:ext>
            </a:extLst>
          </p:cNvPr>
          <p:cNvSpPr txBox="1"/>
          <p:nvPr/>
        </p:nvSpPr>
        <p:spPr>
          <a:xfrm>
            <a:off x="3479800" y="1574800"/>
            <a:ext cx="223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7C5AEB"/>
                </a:solidFill>
                <a:latin typeface="Aptos" panose="020B0004020202020204" pitchFamily="34" charset="0"/>
              </a:rPr>
              <a:t>PROCUREMENT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6CD97C-058B-D26A-70FB-D32C1084FCE0}"/>
              </a:ext>
            </a:extLst>
          </p:cNvPr>
          <p:cNvSpPr txBox="1"/>
          <p:nvPr/>
        </p:nvSpPr>
        <p:spPr>
          <a:xfrm>
            <a:off x="3479800" y="1917700"/>
            <a:ext cx="22352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19232D"/>
                </a:solidFill>
                <a:latin typeface="Aptos" panose="020B0004020202020204" pitchFamily="34" charset="0"/>
              </a:rPr>
              <a:t>"What is supplier delivery compliance against promised dates?"</a:t>
            </a:r>
            <a:endParaRPr lang="en-MY" sz="115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A0E8E2-A90C-52F0-8651-2275817E21A9}"/>
              </a:ext>
            </a:extLst>
          </p:cNvPr>
          <p:cNvSpPr/>
          <p:nvPr/>
        </p:nvSpPr>
        <p:spPr>
          <a:xfrm>
            <a:off x="6096000" y="1460500"/>
            <a:ext cx="2552700" cy="1511300"/>
          </a:xfrm>
          <a:prstGeom prst="roundRect">
            <a:avLst/>
          </a:prstGeom>
          <a:solidFill>
            <a:srgbClr val="E2F8EF"/>
          </a:solidFill>
          <a:ln w="15875">
            <a:solidFill>
              <a:srgbClr val="1FBE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5113D6-68E0-9405-29C8-84821E0B94F0}"/>
              </a:ext>
            </a:extLst>
          </p:cNvPr>
          <p:cNvSpPr/>
          <p:nvPr/>
        </p:nvSpPr>
        <p:spPr>
          <a:xfrm>
            <a:off x="6096000" y="1460500"/>
            <a:ext cx="76200" cy="1511300"/>
          </a:xfrm>
          <a:prstGeom prst="rect">
            <a:avLst/>
          </a:prstGeom>
          <a:solidFill>
            <a:srgbClr val="1FBEB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6E9625-2157-8314-5C19-775F7FD6B4D2}"/>
              </a:ext>
            </a:extLst>
          </p:cNvPr>
          <p:cNvSpPr txBox="1"/>
          <p:nvPr/>
        </p:nvSpPr>
        <p:spPr>
          <a:xfrm>
            <a:off x="6286500" y="1574800"/>
            <a:ext cx="223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1FBEB1"/>
                </a:solidFill>
                <a:latin typeface="Aptos" panose="020B0004020202020204" pitchFamily="34" charset="0"/>
              </a:rPr>
              <a:t>PLANNING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07D427-43E9-5BD6-9FFF-C9083357FE91}"/>
              </a:ext>
            </a:extLst>
          </p:cNvPr>
          <p:cNvSpPr txBox="1"/>
          <p:nvPr/>
        </p:nvSpPr>
        <p:spPr>
          <a:xfrm>
            <a:off x="6286500" y="1917700"/>
            <a:ext cx="22352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19232D"/>
                </a:solidFill>
                <a:latin typeface="Aptos" panose="020B0004020202020204" pitchFamily="34" charset="0"/>
              </a:rPr>
              <a:t>"What percentage of delivered shipments arrived on or before promise?"</a:t>
            </a:r>
            <a:endParaRPr lang="en-MY" sz="115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9B2B45-F279-5EDA-2550-BCF0BDDC10FE}"/>
              </a:ext>
            </a:extLst>
          </p:cNvPr>
          <p:cNvSpPr/>
          <p:nvPr/>
        </p:nvSpPr>
        <p:spPr>
          <a:xfrm>
            <a:off x="1358900" y="3200400"/>
            <a:ext cx="6426200" cy="939800"/>
          </a:xfrm>
          <a:prstGeom prst="roundRect">
            <a:avLst/>
          </a:prstGeom>
          <a:solidFill>
            <a:srgbClr val="051B37"/>
          </a:solidFill>
          <a:ln w="15875">
            <a:solidFill>
              <a:srgbClr val="26B7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BDAACA-03F6-1D2D-8B06-F717B5D3AD8B}"/>
              </a:ext>
            </a:extLst>
          </p:cNvPr>
          <p:cNvSpPr txBox="1"/>
          <p:nvPr/>
        </p:nvSpPr>
        <p:spPr>
          <a:xfrm>
            <a:off x="1625600" y="3340100"/>
            <a:ext cx="152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3100" b="1">
                <a:solidFill>
                  <a:srgbClr val="26B7ED"/>
                </a:solidFill>
                <a:latin typeface="Aptos" panose="020B0004020202020204" pitchFamily="34" charset="0"/>
              </a:rPr>
              <a:t>60.0%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C2A195-F316-0667-E6C8-069F1FDC8105}"/>
              </a:ext>
            </a:extLst>
          </p:cNvPr>
          <p:cNvSpPr txBox="1"/>
          <p:nvPr/>
        </p:nvSpPr>
        <p:spPr>
          <a:xfrm>
            <a:off x="3302000" y="3365500"/>
            <a:ext cx="241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3 on time / 5 delivered</a:t>
            </a:r>
            <a:endParaRPr lang="en-MY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BD37FD-E161-950D-B7DB-DFBF1605229B}"/>
              </a:ext>
            </a:extLst>
          </p:cNvPr>
          <p:cNvSpPr txBox="1"/>
          <p:nvPr/>
        </p:nvSpPr>
        <p:spPr>
          <a:xfrm>
            <a:off x="3086100" y="3695700"/>
            <a:ext cx="4140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Shipment grain | Same all-delivered window | Same governed definition</a:t>
            </a:r>
            <a:endParaRPr lang="en-MY" sz="105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03ED6A-6EC4-B8AA-7C56-383B6798BB1E}"/>
              </a:ext>
            </a:extLst>
          </p:cNvPr>
          <p:cNvSpPr txBox="1"/>
          <p:nvPr/>
        </p:nvSpPr>
        <p:spPr>
          <a:xfrm>
            <a:off x="1117600" y="4318000"/>
            <a:ext cx="690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19232D"/>
                </a:solidFill>
                <a:latin typeface="Aptos" panose="020B0004020202020204" pitchFamily="34" charset="0"/>
              </a:rPr>
              <a:t>Canonical OTD = delivered shipments on or before promise / delivered shipments</a:t>
            </a:r>
            <a:endParaRPr lang="en-MY" sz="1100" b="1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B3B66D-4391-6806-3D2F-037981F4926B}"/>
              </a:ext>
            </a:extLst>
          </p:cNvPr>
          <p:cNvSpPr txBox="1"/>
          <p:nvPr/>
        </p:nvSpPr>
        <p:spPr>
          <a:xfrm>
            <a:off x="1117600" y="4584700"/>
            <a:ext cx="69088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>
                <a:solidFill>
                  <a:srgbClr val="576777"/>
                </a:solidFill>
                <a:latin typeface="Aptos" panose="020B0004020202020204" pitchFamily="34" charset="0"/>
              </a:rPr>
              <a:t>Verified by three independent Agent questions; evidence query IDs are retained in COCO_USAGE.md.</a:t>
            </a:r>
            <a:endParaRPr lang="en-MY" sz="850">
              <a:solidFill>
                <a:srgbClr val="576777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8E41CD-1581-44C4-66BF-D7641EC5DBAD}"/>
              </a:ext>
            </a:extLst>
          </p:cNvPr>
          <p:cNvSpPr txBox="1"/>
          <p:nvPr/>
        </p:nvSpPr>
        <p:spPr>
          <a:xfrm>
            <a:off x="406400" y="4940300"/>
            <a:ext cx="317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750">
                <a:solidFill>
                  <a:srgbClr val="576777"/>
                </a:solidFill>
                <a:latin typeface="Aptos" panose="020B0004020202020204" pitchFamily="34" charset="0"/>
              </a:rPr>
              <a:t>VeriCargo OneTruth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13513C-161D-6CC3-A847-2FB0FBE9E716}"/>
              </a:ext>
            </a:extLst>
          </p:cNvPr>
          <p:cNvSpPr txBox="1"/>
          <p:nvPr/>
        </p:nvSpPr>
        <p:spPr>
          <a:xfrm>
            <a:off x="8382000" y="4927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800" b="1">
                <a:solidFill>
                  <a:srgbClr val="2178F6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538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0B2DDF-5DCE-00D5-8907-304D1480CB75}"/>
              </a:ext>
            </a:extLst>
          </p:cNvPr>
          <p:cNvSpPr txBox="1"/>
          <p:nvPr/>
        </p:nvSpPr>
        <p:spPr>
          <a:xfrm>
            <a:off x="406400" y="5969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950" b="1">
                <a:solidFill>
                  <a:srgbClr val="2178F6"/>
                </a:solidFill>
                <a:latin typeface="Aptos" panose="020B0004020202020204" pitchFamily="34" charset="0"/>
              </a:rPr>
              <a:t>04 | SHP-1002 END-TO-END PROOF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44F2D-0C3D-CB33-F7C2-0BB6B862C54F}"/>
              </a:ext>
            </a:extLst>
          </p:cNvPr>
          <p:cNvSpPr txBox="1"/>
          <p:nvPr/>
        </p:nvSpPr>
        <p:spPr>
          <a:xfrm>
            <a:off x="406400" y="7874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51B37"/>
                </a:solidFill>
                <a:latin typeface="Aptos" panose="020B0004020202020204" pitchFamily="34" charset="0"/>
              </a:rPr>
              <a:t>One shipment. Two destinations. One governed decision.</a:t>
            </a:r>
            <a:endParaRPr lang="en-MY" sz="2400" b="1">
              <a:solidFill>
                <a:srgbClr val="051B37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8733D7-79E2-6D0B-75F4-6D6D8C24BF3E}"/>
              </a:ext>
            </a:extLst>
          </p:cNvPr>
          <p:cNvCxnSpPr/>
          <p:nvPr/>
        </p:nvCxnSpPr>
        <p:spPr>
          <a:xfrm>
            <a:off x="406400" y="1219200"/>
            <a:ext cx="8331200" cy="0"/>
          </a:xfrm>
          <a:prstGeom prst="line">
            <a:avLst/>
          </a:prstGeom>
          <a:ln w="25400">
            <a:solidFill>
              <a:srgbClr val="26B7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08FCA1-907B-45D8-F3F9-6353DECCF24C}"/>
              </a:ext>
            </a:extLst>
          </p:cNvPr>
          <p:cNvSpPr/>
          <p:nvPr/>
        </p:nvSpPr>
        <p:spPr>
          <a:xfrm>
            <a:off x="482600" y="1409700"/>
            <a:ext cx="4089400" cy="30099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F5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B088D-395D-2A52-3542-0547579BB56E}"/>
              </a:ext>
            </a:extLst>
          </p:cNvPr>
          <p:cNvSpPr txBox="1"/>
          <p:nvPr/>
        </p:nvSpPr>
        <p:spPr>
          <a:xfrm>
            <a:off x="698500" y="1574800"/>
            <a:ext cx="3619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300" b="1">
                <a:solidFill>
                  <a:srgbClr val="EF5362"/>
                </a:solidFill>
                <a:latin typeface="Aptos" panose="020B0004020202020204" pitchFamily="34" charset="0"/>
              </a:rPr>
              <a:t>CONFLICTING SOURCE EVIDENCE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94283-A86C-20D5-5DDA-21326F27F290}"/>
              </a:ext>
            </a:extLst>
          </p:cNvPr>
          <p:cNvSpPr txBox="1"/>
          <p:nvPr/>
        </p:nvSpPr>
        <p:spPr>
          <a:xfrm>
            <a:off x="711200" y="1968500"/>
            <a:ext cx="1092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900" b="1">
                <a:solidFill>
                  <a:srgbClr val="576777"/>
                </a:solidFill>
                <a:latin typeface="Aptos" panose="020B0004020202020204" pitchFamily="34" charset="0"/>
              </a:rPr>
              <a:t>Finding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61145-AAED-420E-0D8A-73E01F3C696B}"/>
              </a:ext>
            </a:extLst>
          </p:cNvPr>
          <p:cNvSpPr txBox="1"/>
          <p:nvPr/>
        </p:nvSpPr>
        <p:spPr>
          <a:xfrm>
            <a:off x="1841500" y="1968500"/>
            <a:ext cx="11557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576777"/>
                </a:solidFill>
                <a:latin typeface="Aptos" panose="020B0004020202020204" pitchFamily="34" charset="0"/>
              </a:rPr>
              <a:t>Shipping Instruction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13FD1-77E5-9680-B321-A20F07359544}"/>
              </a:ext>
            </a:extLst>
          </p:cNvPr>
          <p:cNvSpPr txBox="1"/>
          <p:nvPr/>
        </p:nvSpPr>
        <p:spPr>
          <a:xfrm>
            <a:off x="3175000" y="1968500"/>
            <a:ext cx="11557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576777"/>
                </a:solidFill>
                <a:latin typeface="Aptos" panose="020B0004020202020204" pitchFamily="34" charset="0"/>
              </a:rPr>
              <a:t>Draft BL / Actual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A06FDC-9F92-AC14-2E6C-8F01F43A6148}"/>
              </a:ext>
            </a:extLst>
          </p:cNvPr>
          <p:cNvCxnSpPr/>
          <p:nvPr/>
        </p:nvCxnSpPr>
        <p:spPr>
          <a:xfrm>
            <a:off x="698500" y="2197100"/>
            <a:ext cx="3644900" cy="0"/>
          </a:xfrm>
          <a:prstGeom prst="line">
            <a:avLst/>
          </a:prstGeom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0A974C5-FD18-57A3-E4FF-25E370E88645}"/>
              </a:ext>
            </a:extLst>
          </p:cNvPr>
          <p:cNvSpPr txBox="1"/>
          <p:nvPr/>
        </p:nvSpPr>
        <p:spPr>
          <a:xfrm>
            <a:off x="711200" y="2298700"/>
            <a:ext cx="1092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50" b="1">
                <a:solidFill>
                  <a:srgbClr val="19232D"/>
                </a:solidFill>
                <a:latin typeface="Aptos" panose="020B0004020202020204" pitchFamily="34" charset="0"/>
              </a:rPr>
              <a:t>Destination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B975C-76D7-5306-33F8-09FC503313A4}"/>
              </a:ext>
            </a:extLst>
          </p:cNvPr>
          <p:cNvSpPr txBox="1"/>
          <p:nvPr/>
        </p:nvSpPr>
        <p:spPr>
          <a:xfrm>
            <a:off x="1841500" y="2298700"/>
            <a:ext cx="1155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200" b="1">
                <a:solidFill>
                  <a:srgbClr val="26B7ED"/>
                </a:solidFill>
                <a:latin typeface="Aptos" panose="020B0004020202020204" pitchFamily="34" charset="0"/>
              </a:rPr>
              <a:t>VNSGN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5E3B07-DBDF-2394-FC1B-C369FB4614BD}"/>
              </a:ext>
            </a:extLst>
          </p:cNvPr>
          <p:cNvSpPr txBox="1"/>
          <p:nvPr/>
        </p:nvSpPr>
        <p:spPr>
          <a:xfrm>
            <a:off x="3175000" y="2298700"/>
            <a:ext cx="1155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200" b="1">
                <a:solidFill>
                  <a:srgbClr val="EF5362"/>
                </a:solidFill>
                <a:latin typeface="Aptos" panose="020B0004020202020204" pitchFamily="34" charset="0"/>
              </a:rPr>
              <a:t>THLCH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96BA4-BD30-56BF-1B1E-7E9FF3C06AC1}"/>
              </a:ext>
            </a:extLst>
          </p:cNvPr>
          <p:cNvSpPr txBox="1"/>
          <p:nvPr/>
        </p:nvSpPr>
        <p:spPr>
          <a:xfrm>
            <a:off x="711200" y="2705100"/>
            <a:ext cx="1092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50" b="1">
                <a:solidFill>
                  <a:srgbClr val="19232D"/>
                </a:solidFill>
                <a:latin typeface="Aptos" panose="020B0004020202020204" pitchFamily="34" charset="0"/>
              </a:rPr>
              <a:t>Gross weight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57AB90-5036-3AF7-887B-042AE1EC875C}"/>
              </a:ext>
            </a:extLst>
          </p:cNvPr>
          <p:cNvSpPr txBox="1"/>
          <p:nvPr/>
        </p:nvSpPr>
        <p:spPr>
          <a:xfrm>
            <a:off x="1841500" y="2705100"/>
            <a:ext cx="1155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200" b="1">
                <a:solidFill>
                  <a:srgbClr val="26B7ED"/>
                </a:solidFill>
                <a:latin typeface="Aptos" panose="020B0004020202020204" pitchFamily="34" charset="0"/>
              </a:rPr>
              <a:t>8,000 kg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B39B8C-6258-4CD2-4CA9-7B049971B1A0}"/>
              </a:ext>
            </a:extLst>
          </p:cNvPr>
          <p:cNvSpPr txBox="1"/>
          <p:nvPr/>
        </p:nvSpPr>
        <p:spPr>
          <a:xfrm>
            <a:off x="3175000" y="2705100"/>
            <a:ext cx="1155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200" b="1">
                <a:solidFill>
                  <a:srgbClr val="EF5362"/>
                </a:solidFill>
                <a:latin typeface="Aptos" panose="020B0004020202020204" pitchFamily="34" charset="0"/>
              </a:rPr>
              <a:t>7,800 kg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D32919-73EB-309E-9B55-0BC36B64144B}"/>
              </a:ext>
            </a:extLst>
          </p:cNvPr>
          <p:cNvSpPr txBox="1"/>
          <p:nvPr/>
        </p:nvSpPr>
        <p:spPr>
          <a:xfrm>
            <a:off x="711200" y="3111500"/>
            <a:ext cx="1092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50" b="1">
                <a:solidFill>
                  <a:srgbClr val="19232D"/>
                </a:solidFill>
                <a:latin typeface="Aptos" panose="020B0004020202020204" pitchFamily="34" charset="0"/>
              </a:rPr>
              <a:t>Delivery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484BCB-6A65-87E8-B8A3-4006638AE2B0}"/>
              </a:ext>
            </a:extLst>
          </p:cNvPr>
          <p:cNvSpPr txBox="1"/>
          <p:nvPr/>
        </p:nvSpPr>
        <p:spPr>
          <a:xfrm>
            <a:off x="1841500" y="3111500"/>
            <a:ext cx="11557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100" b="1">
                <a:solidFill>
                  <a:srgbClr val="26B7ED"/>
                </a:solidFill>
                <a:latin typeface="Aptos" panose="020B0004020202020204" pitchFamily="34" charset="0"/>
              </a:rPr>
              <a:t>Promised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45931F-5EB7-5A4B-0E16-C2EE8C7E4208}"/>
              </a:ext>
            </a:extLst>
          </p:cNvPr>
          <p:cNvSpPr txBox="1"/>
          <p:nvPr/>
        </p:nvSpPr>
        <p:spPr>
          <a:xfrm>
            <a:off x="3175000" y="3111500"/>
            <a:ext cx="1155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200" b="1">
                <a:solidFill>
                  <a:srgbClr val="EF5362"/>
                </a:solidFill>
                <a:latin typeface="Aptos" panose="020B0004020202020204" pitchFamily="34" charset="0"/>
              </a:rPr>
              <a:t>1 day late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B42422-FDD7-5EF3-B7EA-6D9AC13B8C95}"/>
              </a:ext>
            </a:extLst>
          </p:cNvPr>
          <p:cNvSpPr txBox="1"/>
          <p:nvPr/>
        </p:nvSpPr>
        <p:spPr>
          <a:xfrm>
            <a:off x="711200" y="3543300"/>
            <a:ext cx="1092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50" b="1">
                <a:solidFill>
                  <a:srgbClr val="19232D"/>
                </a:solidFill>
                <a:latin typeface="Aptos" panose="020B0004020202020204" pitchFamily="34" charset="0"/>
              </a:rPr>
              <a:t>Sources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00F975-30F9-83FA-AC5E-C65E3F5ED9E8}"/>
              </a:ext>
            </a:extLst>
          </p:cNvPr>
          <p:cNvSpPr txBox="1"/>
          <p:nvPr/>
        </p:nvSpPr>
        <p:spPr>
          <a:xfrm>
            <a:off x="1841500" y="3517900"/>
            <a:ext cx="2476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>
                <a:solidFill>
                  <a:srgbClr val="19232D"/>
                </a:solidFill>
                <a:latin typeface="Aptos" panose="020B0004020202020204" pitchFamily="34" charset="0"/>
              </a:rPr>
              <a:t>doc-shp-1002-si.pdf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B25F05-5D54-6077-B003-5233E1DB2655}"/>
              </a:ext>
            </a:extLst>
          </p:cNvPr>
          <p:cNvSpPr txBox="1"/>
          <p:nvPr/>
        </p:nvSpPr>
        <p:spPr>
          <a:xfrm>
            <a:off x="1841500" y="3759200"/>
            <a:ext cx="2476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>
                <a:solidFill>
                  <a:srgbClr val="19232D"/>
                </a:solidFill>
                <a:latin typeface="Aptos" panose="020B0004020202020204" pitchFamily="34" charset="0"/>
              </a:rPr>
              <a:t>doc-shp-1002-bl.pdf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0F96EA-4C92-05E9-81E9-F3855D72CB80}"/>
              </a:ext>
            </a:extLst>
          </p:cNvPr>
          <p:cNvSpPr txBox="1"/>
          <p:nvPr/>
        </p:nvSpPr>
        <p:spPr>
          <a:xfrm>
            <a:off x="711200" y="4089400"/>
            <a:ext cx="3632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>
                <a:solidFill>
                  <a:srgbClr val="EF5362"/>
                </a:solidFill>
                <a:latin typeface="Aptos" panose="020B0004020202020204" pitchFamily="34" charset="0"/>
              </a:rPr>
              <a:t>Result: two linked governed exceptions</a:t>
            </a:r>
            <a:endParaRPr lang="en-MY" sz="1050" b="1">
              <a:solidFill>
                <a:srgbClr val="EF5362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D5710D-2BCC-A14D-F60B-92DA80132924}"/>
              </a:ext>
            </a:extLst>
          </p:cNvPr>
          <p:cNvSpPr/>
          <p:nvPr/>
        </p:nvSpPr>
        <p:spPr>
          <a:xfrm>
            <a:off x="4914900" y="1422400"/>
            <a:ext cx="3733800" cy="4953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F5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D9B614F-4FDB-8345-D97B-4B3D18ABA45F}"/>
              </a:ext>
            </a:extLst>
          </p:cNvPr>
          <p:cNvSpPr/>
          <p:nvPr/>
        </p:nvSpPr>
        <p:spPr>
          <a:xfrm>
            <a:off x="5054600" y="1511300"/>
            <a:ext cx="304800" cy="304800"/>
          </a:xfrm>
          <a:prstGeom prst="ellipse">
            <a:avLst/>
          </a:prstGeom>
          <a:solidFill>
            <a:srgbClr val="EF536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EFBC3C-27A6-BC16-808E-F653A1220819}"/>
              </a:ext>
            </a:extLst>
          </p:cNvPr>
          <p:cNvSpPr txBox="1"/>
          <p:nvPr/>
        </p:nvSpPr>
        <p:spPr>
          <a:xfrm>
            <a:off x="5054600" y="1562100"/>
            <a:ext cx="304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19DF77-1F2C-06EE-64C9-CAB1830EDFAA}"/>
              </a:ext>
            </a:extLst>
          </p:cNvPr>
          <p:cNvSpPr txBox="1"/>
          <p:nvPr/>
        </p:nvSpPr>
        <p:spPr>
          <a:xfrm>
            <a:off x="5499100" y="1498600"/>
            <a:ext cx="990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50" b="1">
                <a:solidFill>
                  <a:srgbClr val="EF5362"/>
                </a:solidFill>
                <a:latin typeface="Aptos" panose="020B0004020202020204" pitchFamily="34" charset="0"/>
              </a:rPr>
              <a:t>DETECT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F3A7EC-909B-ADC3-E093-26AE093D310E}"/>
              </a:ext>
            </a:extLst>
          </p:cNvPr>
          <p:cNvSpPr txBox="1"/>
          <p:nvPr/>
        </p:nvSpPr>
        <p:spPr>
          <a:xfrm>
            <a:off x="5499100" y="1676400"/>
            <a:ext cx="29464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870">
                <a:solidFill>
                  <a:srgbClr val="19232D"/>
                </a:solidFill>
                <a:latin typeface="Aptos" panose="020B0004020202020204" pitchFamily="34" charset="0"/>
              </a:rPr>
              <a:t>Late delivery + document mismatch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7CC5A9A-100F-0B5E-B59F-99C812575789}"/>
              </a:ext>
            </a:extLst>
          </p:cNvPr>
          <p:cNvSpPr/>
          <p:nvPr/>
        </p:nvSpPr>
        <p:spPr>
          <a:xfrm>
            <a:off x="4914900" y="2032000"/>
            <a:ext cx="3733800" cy="4953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B7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6591E9-F735-12E0-0600-8CA2CA965D15}"/>
              </a:ext>
            </a:extLst>
          </p:cNvPr>
          <p:cNvSpPr/>
          <p:nvPr/>
        </p:nvSpPr>
        <p:spPr>
          <a:xfrm>
            <a:off x="5054600" y="2120900"/>
            <a:ext cx="304800" cy="304800"/>
          </a:xfrm>
          <a:prstGeom prst="ellipse">
            <a:avLst/>
          </a:prstGeom>
          <a:solidFill>
            <a:srgbClr val="26B7E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F9B36B-7C2B-6EE1-F953-7DC100C62E0C}"/>
              </a:ext>
            </a:extLst>
          </p:cNvPr>
          <p:cNvSpPr txBox="1"/>
          <p:nvPr/>
        </p:nvSpPr>
        <p:spPr>
          <a:xfrm>
            <a:off x="5054600" y="2171700"/>
            <a:ext cx="304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40227F-4E92-2F41-CA70-5125E6FED672}"/>
              </a:ext>
            </a:extLst>
          </p:cNvPr>
          <p:cNvSpPr txBox="1"/>
          <p:nvPr/>
        </p:nvSpPr>
        <p:spPr>
          <a:xfrm>
            <a:off x="5499100" y="2108200"/>
            <a:ext cx="990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50" b="1">
                <a:solidFill>
                  <a:srgbClr val="26B7ED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D30DC4-F83A-AB71-E322-973FE0AC8544}"/>
              </a:ext>
            </a:extLst>
          </p:cNvPr>
          <p:cNvSpPr txBox="1"/>
          <p:nvPr/>
        </p:nvSpPr>
        <p:spPr>
          <a:xfrm>
            <a:off x="5499100" y="2286000"/>
            <a:ext cx="29464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870">
                <a:solidFill>
                  <a:srgbClr val="19232D"/>
                </a:solidFill>
                <a:latin typeface="Aptos" panose="020B0004020202020204" pitchFamily="34" charset="0"/>
              </a:rPr>
              <a:t>Raw, normalized, confidence, filenames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FC21317-A235-9E82-D9A2-27E46E04F190}"/>
              </a:ext>
            </a:extLst>
          </p:cNvPr>
          <p:cNvSpPr/>
          <p:nvPr/>
        </p:nvSpPr>
        <p:spPr>
          <a:xfrm>
            <a:off x="4914900" y="2641600"/>
            <a:ext cx="3733800" cy="4953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5A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111F9A4-178E-98F1-755E-A0B821FEEEBE}"/>
              </a:ext>
            </a:extLst>
          </p:cNvPr>
          <p:cNvSpPr/>
          <p:nvPr/>
        </p:nvSpPr>
        <p:spPr>
          <a:xfrm>
            <a:off x="5054600" y="2730500"/>
            <a:ext cx="304800" cy="304800"/>
          </a:xfrm>
          <a:prstGeom prst="ellipse">
            <a:avLst/>
          </a:prstGeom>
          <a:solidFill>
            <a:srgbClr val="7C5AE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67CDE1-6CCE-AE82-A4ED-355E37BE1978}"/>
              </a:ext>
            </a:extLst>
          </p:cNvPr>
          <p:cNvSpPr txBox="1"/>
          <p:nvPr/>
        </p:nvSpPr>
        <p:spPr>
          <a:xfrm>
            <a:off x="5054600" y="2781300"/>
            <a:ext cx="304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6DC30C-D9F0-7168-5EFE-0C435B7FD5BE}"/>
              </a:ext>
            </a:extLst>
          </p:cNvPr>
          <p:cNvSpPr txBox="1"/>
          <p:nvPr/>
        </p:nvSpPr>
        <p:spPr>
          <a:xfrm>
            <a:off x="5499100" y="2717800"/>
            <a:ext cx="990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50" b="1">
                <a:solidFill>
                  <a:srgbClr val="7C5AEB"/>
                </a:solidFill>
                <a:latin typeface="Aptos" panose="020B0004020202020204" pitchFamily="34" charset="0"/>
              </a:rPr>
              <a:t>EXPLAIN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8B40E0-F65B-7C1E-1628-6E2874207693}"/>
              </a:ext>
            </a:extLst>
          </p:cNvPr>
          <p:cNvSpPr txBox="1"/>
          <p:nvPr/>
        </p:nvSpPr>
        <p:spPr>
          <a:xfrm>
            <a:off x="5499100" y="2895600"/>
            <a:ext cx="29464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70">
                <a:solidFill>
                  <a:srgbClr val="19232D"/>
                </a:solidFill>
                <a:latin typeface="Aptos" panose="020B0004020202020204" pitchFamily="34" charset="0"/>
              </a:rPr>
              <a:t>Agent answer is cited and read only</a:t>
            </a:r>
            <a:endParaRPr lang="en-MY" sz="87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9464F1A-36EF-67B2-BF51-FC21D504A993}"/>
              </a:ext>
            </a:extLst>
          </p:cNvPr>
          <p:cNvSpPr/>
          <p:nvPr/>
        </p:nvSpPr>
        <p:spPr>
          <a:xfrm>
            <a:off x="4914900" y="3251200"/>
            <a:ext cx="3733800" cy="4953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4FDA80C-B2E0-2138-AF4C-685B595ADBEA}"/>
              </a:ext>
            </a:extLst>
          </p:cNvPr>
          <p:cNvSpPr/>
          <p:nvPr/>
        </p:nvSpPr>
        <p:spPr>
          <a:xfrm>
            <a:off x="5054600" y="3340100"/>
            <a:ext cx="304800" cy="304800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D4C4D5-C491-EF67-4BCD-596C6FD38040}"/>
              </a:ext>
            </a:extLst>
          </p:cNvPr>
          <p:cNvSpPr txBox="1"/>
          <p:nvPr/>
        </p:nvSpPr>
        <p:spPr>
          <a:xfrm>
            <a:off x="5054600" y="3390900"/>
            <a:ext cx="304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C3248E-B875-5BD4-6678-E27265D4DAD7}"/>
              </a:ext>
            </a:extLst>
          </p:cNvPr>
          <p:cNvSpPr txBox="1"/>
          <p:nvPr/>
        </p:nvSpPr>
        <p:spPr>
          <a:xfrm>
            <a:off x="5499100" y="3327400"/>
            <a:ext cx="990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50" b="1">
                <a:solidFill>
                  <a:srgbClr val="F5A623"/>
                </a:solidFill>
                <a:latin typeface="Aptos" panose="020B0004020202020204" pitchFamily="34" charset="0"/>
              </a:rPr>
              <a:t>CONFIRM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3F37B5-EFCD-A89F-8654-EE2C39BF6098}"/>
              </a:ext>
            </a:extLst>
          </p:cNvPr>
          <p:cNvSpPr txBox="1"/>
          <p:nvPr/>
        </p:nvSpPr>
        <p:spPr>
          <a:xfrm>
            <a:off x="5499100" y="3505200"/>
            <a:ext cx="29464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70">
                <a:solidFill>
                  <a:srgbClr val="19232D"/>
                </a:solidFill>
                <a:latin typeface="Aptos" panose="020B0004020202020204" pitchFamily="34" charset="0"/>
              </a:rPr>
              <a:t>Cancel = 0 writes; Confirm = 1 case</a:t>
            </a:r>
            <a:endParaRPr lang="en-MY" sz="87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D16469F-37EC-ECD6-5C50-CC67518D7094}"/>
              </a:ext>
            </a:extLst>
          </p:cNvPr>
          <p:cNvSpPr/>
          <p:nvPr/>
        </p:nvSpPr>
        <p:spPr>
          <a:xfrm>
            <a:off x="4914900" y="3860800"/>
            <a:ext cx="3733800" cy="4953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C4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20ADDF7-222C-AEAC-5A76-5DA8353A0358}"/>
              </a:ext>
            </a:extLst>
          </p:cNvPr>
          <p:cNvSpPr/>
          <p:nvPr/>
        </p:nvSpPr>
        <p:spPr>
          <a:xfrm>
            <a:off x="5054600" y="3949700"/>
            <a:ext cx="304800" cy="304800"/>
          </a:xfrm>
          <a:prstGeom prst="ellipse">
            <a:avLst/>
          </a:prstGeom>
          <a:solidFill>
            <a:srgbClr val="2AC48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601CA1-B128-D760-4049-4B7D1F76E484}"/>
              </a:ext>
            </a:extLst>
          </p:cNvPr>
          <p:cNvSpPr txBox="1"/>
          <p:nvPr/>
        </p:nvSpPr>
        <p:spPr>
          <a:xfrm>
            <a:off x="5054600" y="4000500"/>
            <a:ext cx="304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B6CDBE-0265-0A77-314E-57FE08E2C631}"/>
              </a:ext>
            </a:extLst>
          </p:cNvPr>
          <p:cNvSpPr txBox="1"/>
          <p:nvPr/>
        </p:nvSpPr>
        <p:spPr>
          <a:xfrm>
            <a:off x="5499100" y="3937000"/>
            <a:ext cx="990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50" b="1">
                <a:solidFill>
                  <a:srgbClr val="2AC48C"/>
                </a:solidFill>
                <a:latin typeface="Aptos" panose="020B0004020202020204" pitchFamily="34" charset="0"/>
              </a:rPr>
              <a:t>AUDIT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3B26E9-6577-018D-BE2C-E0F635D44E05}"/>
              </a:ext>
            </a:extLst>
          </p:cNvPr>
          <p:cNvSpPr txBox="1"/>
          <p:nvPr/>
        </p:nvSpPr>
        <p:spPr>
          <a:xfrm>
            <a:off x="5499100" y="4114800"/>
            <a:ext cx="29464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70">
                <a:solidFill>
                  <a:srgbClr val="19232D"/>
                </a:solidFill>
                <a:latin typeface="Aptos" panose="020B0004020202020204" pitchFamily="34" charset="0"/>
              </a:rPr>
              <a:t>RC-000201, 2 links, 3 lifecycle events</a:t>
            </a:r>
            <a:endParaRPr lang="en-MY" sz="87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3BA006-94FF-8F48-D46B-7C8927F88BED}"/>
              </a:ext>
            </a:extLst>
          </p:cNvPr>
          <p:cNvSpPr txBox="1"/>
          <p:nvPr/>
        </p:nvSpPr>
        <p:spPr>
          <a:xfrm>
            <a:off x="4902200" y="4533900"/>
            <a:ext cx="3746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51B37"/>
                </a:solidFill>
                <a:latin typeface="Aptos" panose="020B0004020202020204" pitchFamily="34" charset="0"/>
              </a:rPr>
              <a:t>Agent proposes. Human confirms. Every mutation is audited.</a:t>
            </a:r>
            <a:endParaRPr lang="en-MY" sz="1100" b="1">
              <a:solidFill>
                <a:srgbClr val="051B37"/>
              </a:solidFill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894BF1-30A4-299C-0566-5D7C9EE320FF}"/>
              </a:ext>
            </a:extLst>
          </p:cNvPr>
          <p:cNvSpPr txBox="1"/>
          <p:nvPr/>
        </p:nvSpPr>
        <p:spPr>
          <a:xfrm>
            <a:off x="406400" y="4940300"/>
            <a:ext cx="317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750">
                <a:solidFill>
                  <a:srgbClr val="576777"/>
                </a:solidFill>
                <a:latin typeface="Aptos" panose="020B0004020202020204" pitchFamily="34" charset="0"/>
              </a:rPr>
              <a:t>VeriCargo OneTruth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1EBA67-BB5F-20DA-6243-D3CF8E14DB21}"/>
              </a:ext>
            </a:extLst>
          </p:cNvPr>
          <p:cNvSpPr txBox="1"/>
          <p:nvPr/>
        </p:nvSpPr>
        <p:spPr>
          <a:xfrm>
            <a:off x="8382000" y="4927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800" b="1">
                <a:solidFill>
                  <a:srgbClr val="2178F6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98752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3913CD-4AF6-D0B9-5AA4-21C3E23897FC}"/>
              </a:ext>
            </a:extLst>
          </p:cNvPr>
          <p:cNvSpPr txBox="1"/>
          <p:nvPr/>
        </p:nvSpPr>
        <p:spPr>
          <a:xfrm>
            <a:off x="406400" y="5969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2178F6"/>
                </a:solidFill>
                <a:latin typeface="Aptos" panose="020B0004020202020204" pitchFamily="34" charset="0"/>
              </a:rPr>
              <a:t>05 | REQUIRED TOOLING AND INGENUITY</a:t>
            </a:r>
            <a:endParaRPr lang="en-MY" sz="950" b="1">
              <a:solidFill>
                <a:srgbClr val="2178F6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A4E1B-222B-C77D-1CD5-FC60115A58E6}"/>
              </a:ext>
            </a:extLst>
          </p:cNvPr>
          <p:cNvSpPr txBox="1"/>
          <p:nvPr/>
        </p:nvSpPr>
        <p:spPr>
          <a:xfrm>
            <a:off x="406400" y="7874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51B37"/>
                </a:solidFill>
                <a:latin typeface="Aptos" panose="020B0004020202020204" pitchFamily="34" charset="0"/>
              </a:rPr>
              <a:t>CoCo CLI across the complete delivery lifecycle</a:t>
            </a:r>
            <a:endParaRPr lang="en-MY" sz="2400" b="1">
              <a:solidFill>
                <a:srgbClr val="051B37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A150FA-DA42-75B4-8E40-D7DF8FB68162}"/>
              </a:ext>
            </a:extLst>
          </p:cNvPr>
          <p:cNvCxnSpPr/>
          <p:nvPr/>
        </p:nvCxnSpPr>
        <p:spPr>
          <a:xfrm>
            <a:off x="406400" y="1219200"/>
            <a:ext cx="8331200" cy="0"/>
          </a:xfrm>
          <a:prstGeom prst="line">
            <a:avLst/>
          </a:prstGeom>
          <a:ln w="25400">
            <a:solidFill>
              <a:srgbClr val="26B7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D117CD2-3F6A-D7A6-4A8F-5C2089888271}"/>
              </a:ext>
            </a:extLst>
          </p:cNvPr>
          <p:cNvSpPr txBox="1"/>
          <p:nvPr/>
        </p:nvSpPr>
        <p:spPr>
          <a:xfrm>
            <a:off x="533400" y="1333500"/>
            <a:ext cx="807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9232D"/>
                </a:solidFill>
                <a:latin typeface="Aptos" panose="020B0004020202020204" pitchFamily="34" charset="0"/>
              </a:rPr>
              <a:t>CoCo is the engineering copilot used to plan, build, execute, test and automate the solution - not a runtime dependency.</a:t>
            </a:r>
            <a:endParaRPr lang="en-MY" sz="1200" b="1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05B6DF-D07E-F1B2-E964-FDBF2A9B786B}"/>
              </a:ext>
            </a:extLst>
          </p:cNvPr>
          <p:cNvSpPr/>
          <p:nvPr/>
        </p:nvSpPr>
        <p:spPr>
          <a:xfrm>
            <a:off x="444500" y="1943100"/>
            <a:ext cx="16002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B7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7CB3D-386C-79C6-65F8-1AA7D886B3FD}"/>
              </a:ext>
            </a:extLst>
          </p:cNvPr>
          <p:cNvSpPr txBox="1"/>
          <p:nvPr/>
        </p:nvSpPr>
        <p:spPr>
          <a:xfrm>
            <a:off x="546100" y="2108200"/>
            <a:ext cx="139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150" b="1">
                <a:solidFill>
                  <a:srgbClr val="26B7ED"/>
                </a:solidFill>
                <a:latin typeface="Aptos" panose="020B0004020202020204" pitchFamily="34" charset="0"/>
              </a:rPr>
              <a:t>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86489F-2188-D4DF-892F-60569C46466D}"/>
              </a:ext>
            </a:extLst>
          </p:cNvPr>
          <p:cNvSpPr txBox="1"/>
          <p:nvPr/>
        </p:nvSpPr>
        <p:spPr>
          <a:xfrm>
            <a:off x="571500" y="2527300"/>
            <a:ext cx="1346200" cy="438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50" dirty="0">
                <a:solidFill>
                  <a:srgbClr val="19232D"/>
                </a:solidFill>
                <a:latin typeface="Aptos" panose="020B0004020202020204" pitchFamily="34" charset="0"/>
              </a:rPr>
              <a:t>Ontology, metrics, architecture, guardrails
Session 4ce0a356...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7FF34D-B859-10DE-AE49-E3C50AF8CE3A}"/>
              </a:ext>
            </a:extLst>
          </p:cNvPr>
          <p:cNvSpPr/>
          <p:nvPr/>
        </p:nvSpPr>
        <p:spPr>
          <a:xfrm>
            <a:off x="2133600" y="1943100"/>
            <a:ext cx="16002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78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839A5-DB34-85B0-A39F-AEFD04D1FAE9}"/>
              </a:ext>
            </a:extLst>
          </p:cNvPr>
          <p:cNvSpPr txBox="1"/>
          <p:nvPr/>
        </p:nvSpPr>
        <p:spPr>
          <a:xfrm>
            <a:off x="2235200" y="2108200"/>
            <a:ext cx="139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150" b="1">
                <a:solidFill>
                  <a:srgbClr val="2178F6"/>
                </a:solidFill>
                <a:latin typeface="Aptos" panose="020B0004020202020204" pitchFamily="34" charset="0"/>
              </a:rPr>
              <a:t>DEVELOP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59B0F1-5D5C-D0BD-1931-C3B76A593539}"/>
              </a:ext>
            </a:extLst>
          </p:cNvPr>
          <p:cNvSpPr txBox="1"/>
          <p:nvPr/>
        </p:nvSpPr>
        <p:spPr>
          <a:xfrm>
            <a:off x="2260600" y="2527300"/>
            <a:ext cx="1346200" cy="438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50">
                <a:solidFill>
                  <a:srgbClr val="19232D"/>
                </a:solidFill>
                <a:latin typeface="Aptos" panose="020B0004020202020204" pitchFamily="34" charset="0"/>
              </a:rPr>
              <a:t>SQL/Python review + Korean port alias fix
Session b46b47a1...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36668F-32A1-7E79-EC46-88CA5768302E}"/>
              </a:ext>
            </a:extLst>
          </p:cNvPr>
          <p:cNvSpPr/>
          <p:nvPr/>
        </p:nvSpPr>
        <p:spPr>
          <a:xfrm>
            <a:off x="3822700" y="1943100"/>
            <a:ext cx="16002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5A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E4284B-C5FB-075D-6406-ED6E9D003B8F}"/>
              </a:ext>
            </a:extLst>
          </p:cNvPr>
          <p:cNvSpPr txBox="1"/>
          <p:nvPr/>
        </p:nvSpPr>
        <p:spPr>
          <a:xfrm>
            <a:off x="3924300" y="2108200"/>
            <a:ext cx="139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150" b="1">
                <a:solidFill>
                  <a:srgbClr val="7C5AEB"/>
                </a:solidFill>
                <a:latin typeface="Aptos" panose="020B0004020202020204" pitchFamily="34" charset="0"/>
              </a:rPr>
              <a:t>EXECUTE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D6AA1C-F82D-8967-BF39-C7EB810630E4}"/>
              </a:ext>
            </a:extLst>
          </p:cNvPr>
          <p:cNvSpPr txBox="1"/>
          <p:nvPr/>
        </p:nvSpPr>
        <p:spPr>
          <a:xfrm>
            <a:off x="3949700" y="2527300"/>
            <a:ext cx="1346200" cy="438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19232D"/>
                </a:solidFill>
                <a:latin typeface="Aptos" panose="020B0004020202020204" pitchFamily="34" charset="0"/>
              </a:rPr>
              <a:t>Snowflake objects, Agent and Streamlit
Query IDs retained</a:t>
            </a:r>
            <a:endParaRPr lang="en-MY" sz="95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5492FF-0924-BD39-4A18-FD0482AA24CE}"/>
              </a:ext>
            </a:extLst>
          </p:cNvPr>
          <p:cNvSpPr/>
          <p:nvPr/>
        </p:nvSpPr>
        <p:spPr>
          <a:xfrm>
            <a:off x="5511800" y="1943100"/>
            <a:ext cx="16002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8EFC47-0411-9609-6C38-16FAEB870DCC}"/>
              </a:ext>
            </a:extLst>
          </p:cNvPr>
          <p:cNvSpPr txBox="1"/>
          <p:nvPr/>
        </p:nvSpPr>
        <p:spPr>
          <a:xfrm>
            <a:off x="5613400" y="2108200"/>
            <a:ext cx="139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150" b="1">
                <a:solidFill>
                  <a:srgbClr val="F5A623"/>
                </a:solidFill>
                <a:latin typeface="Aptos" panose="020B0004020202020204" pitchFamily="34" charset="0"/>
              </a:rPr>
              <a:t>TEST + REPAIR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227CB0-396B-8568-3523-BBDA48232671}"/>
              </a:ext>
            </a:extLst>
          </p:cNvPr>
          <p:cNvSpPr txBox="1"/>
          <p:nvPr/>
        </p:nvSpPr>
        <p:spPr>
          <a:xfrm>
            <a:off x="5638800" y="2527300"/>
            <a:ext cx="1346200" cy="438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19232D"/>
                </a:solidFill>
                <a:latin typeface="Aptos" panose="020B0004020202020204" pitchFamily="34" charset="0"/>
              </a:rPr>
              <a:t>30/30 local + 28/28 Snowflake
Failed -&gt; fixed proof</a:t>
            </a:r>
            <a:endParaRPr lang="en-MY" sz="95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AE17BCF-4ADD-D8C7-5BBA-EA04F3FF0110}"/>
              </a:ext>
            </a:extLst>
          </p:cNvPr>
          <p:cNvSpPr/>
          <p:nvPr/>
        </p:nvSpPr>
        <p:spPr>
          <a:xfrm>
            <a:off x="7200900" y="1943100"/>
            <a:ext cx="14986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C4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9C4FF0-D609-C7C4-0609-DAC2300675D8}"/>
              </a:ext>
            </a:extLst>
          </p:cNvPr>
          <p:cNvSpPr txBox="1"/>
          <p:nvPr/>
        </p:nvSpPr>
        <p:spPr>
          <a:xfrm>
            <a:off x="7302500" y="2108200"/>
            <a:ext cx="1295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150" b="1">
                <a:solidFill>
                  <a:srgbClr val="2AC48C"/>
                </a:solidFill>
                <a:latin typeface="Aptos" panose="020B0004020202020204" pitchFamily="34" charset="0"/>
              </a:rPr>
              <a:t>AUTOMATE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C1F20-EB57-F851-07CC-F27026CE36F5}"/>
              </a:ext>
            </a:extLst>
          </p:cNvPr>
          <p:cNvSpPr txBox="1"/>
          <p:nvPr/>
        </p:nvSpPr>
        <p:spPr>
          <a:xfrm>
            <a:off x="7327900" y="2527300"/>
            <a:ext cx="1244600" cy="438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19232D"/>
                </a:solidFill>
                <a:latin typeface="Aptos" panose="020B0004020202020204" pitchFamily="34" charset="0"/>
              </a:rPr>
              <a:t>Governance skill + daily digest Task
Query 01c762ea...</a:t>
            </a:r>
            <a:endParaRPr lang="en-MY" sz="95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413F7A-9A97-0966-C0C9-F5B08B755B3A}"/>
              </a:ext>
            </a:extLst>
          </p:cNvPr>
          <p:cNvCxnSpPr/>
          <p:nvPr/>
        </p:nvCxnSpPr>
        <p:spPr>
          <a:xfrm>
            <a:off x="2044700" y="2743200"/>
            <a:ext cx="88900" cy="0"/>
          </a:xfrm>
          <a:prstGeom prst="line">
            <a:avLst/>
          </a:prstGeom>
          <a:ln w="25400">
            <a:solidFill>
              <a:srgbClr val="26B7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BC8549-429A-12DB-5333-8E100FD2C563}"/>
              </a:ext>
            </a:extLst>
          </p:cNvPr>
          <p:cNvCxnSpPr/>
          <p:nvPr/>
        </p:nvCxnSpPr>
        <p:spPr>
          <a:xfrm>
            <a:off x="3733800" y="2743200"/>
            <a:ext cx="88900" cy="0"/>
          </a:xfrm>
          <a:prstGeom prst="line">
            <a:avLst/>
          </a:prstGeom>
          <a:ln w="25400">
            <a:solidFill>
              <a:srgbClr val="26B7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B485F3-72AB-7A7E-19F4-D1CB80C0C2E7}"/>
              </a:ext>
            </a:extLst>
          </p:cNvPr>
          <p:cNvCxnSpPr/>
          <p:nvPr/>
        </p:nvCxnSpPr>
        <p:spPr>
          <a:xfrm>
            <a:off x="5422900" y="2743200"/>
            <a:ext cx="88900" cy="0"/>
          </a:xfrm>
          <a:prstGeom prst="line">
            <a:avLst/>
          </a:prstGeom>
          <a:ln w="25400">
            <a:solidFill>
              <a:srgbClr val="26B7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E2492DA-4310-FF54-C85A-982EC83FEA47}"/>
              </a:ext>
            </a:extLst>
          </p:cNvPr>
          <p:cNvCxnSpPr/>
          <p:nvPr/>
        </p:nvCxnSpPr>
        <p:spPr>
          <a:xfrm>
            <a:off x="7112000" y="2743200"/>
            <a:ext cx="88900" cy="0"/>
          </a:xfrm>
          <a:prstGeom prst="line">
            <a:avLst/>
          </a:prstGeom>
          <a:ln w="25400">
            <a:solidFill>
              <a:srgbClr val="26B7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0937D02-E6AE-6EE1-12C1-2F3F5742DB11}"/>
              </a:ext>
            </a:extLst>
          </p:cNvPr>
          <p:cNvSpPr/>
          <p:nvPr/>
        </p:nvSpPr>
        <p:spPr>
          <a:xfrm>
            <a:off x="952500" y="3886200"/>
            <a:ext cx="7239000" cy="723900"/>
          </a:xfrm>
          <a:prstGeom prst="roundRect">
            <a:avLst/>
          </a:prstGeom>
          <a:solidFill>
            <a:srgbClr val="051B37"/>
          </a:solidFill>
          <a:ln w="15875">
            <a:solidFill>
              <a:srgbClr val="051B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5A459A-256C-59B8-B80A-21FF6F40A57F}"/>
              </a:ext>
            </a:extLst>
          </p:cNvPr>
          <p:cNvSpPr txBox="1"/>
          <p:nvPr/>
        </p:nvSpPr>
        <p:spPr>
          <a:xfrm>
            <a:off x="1193800" y="4038600"/>
            <a:ext cx="2235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950" b="1">
                <a:solidFill>
                  <a:srgbClr val="F5A623"/>
                </a:solidFill>
                <a:latin typeface="Aptos" panose="020B0004020202020204" pitchFamily="34" charset="0"/>
              </a:rPr>
              <a:t>FAILED-THEN-FIXED EVIDENCE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57A7AC-9BDA-FAA3-4F51-B30A54C9195B}"/>
              </a:ext>
            </a:extLst>
          </p:cNvPr>
          <p:cNvSpPr txBox="1"/>
          <p:nvPr/>
        </p:nvSpPr>
        <p:spPr>
          <a:xfrm>
            <a:off x="1193800" y="4292600"/>
            <a:ext cx="675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20" b="1">
                <a:solidFill>
                  <a:srgbClr val="FFFFFF"/>
                </a:solidFill>
                <a:latin typeface="Aptos" panose="020B0004020202020204" pitchFamily="34" charset="0"/>
              </a:rPr>
              <a:t>Busan initially normalized incorrectly -&gt; CoCo repaired SQL alias parity -&gt; all aliases and six document outcomes passed regression.</a:t>
            </a:r>
            <a:endParaRPr lang="en-MY" sz="102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57398E-0EED-9BBB-0B17-97B09352252E}"/>
              </a:ext>
            </a:extLst>
          </p:cNvPr>
          <p:cNvSpPr txBox="1"/>
          <p:nvPr/>
        </p:nvSpPr>
        <p:spPr>
          <a:xfrm>
            <a:off x="406400" y="4940300"/>
            <a:ext cx="317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750">
                <a:solidFill>
                  <a:srgbClr val="576777"/>
                </a:solidFill>
                <a:latin typeface="Aptos" panose="020B0004020202020204" pitchFamily="34" charset="0"/>
              </a:rPr>
              <a:t>VeriCargo OneTruth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27D783-F83D-3F5D-91FA-A5FAD71E114E}"/>
              </a:ext>
            </a:extLst>
          </p:cNvPr>
          <p:cNvSpPr txBox="1"/>
          <p:nvPr/>
        </p:nvSpPr>
        <p:spPr>
          <a:xfrm>
            <a:off x="8382000" y="4927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800" b="1">
                <a:solidFill>
                  <a:srgbClr val="2178F6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2301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F4760B-A641-1193-2CC0-3B1A583FBAB7}"/>
              </a:ext>
            </a:extLst>
          </p:cNvPr>
          <p:cNvSpPr txBox="1"/>
          <p:nvPr/>
        </p:nvSpPr>
        <p:spPr>
          <a:xfrm>
            <a:off x="406400" y="5969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2178F6"/>
                </a:solidFill>
                <a:latin typeface="Aptos" panose="020B0004020202020204" pitchFamily="34" charset="0"/>
              </a:rPr>
              <a:t>06 | IMPACT AND SUBMISSION READINESS</a:t>
            </a:r>
            <a:endParaRPr lang="en-MY" sz="950" b="1">
              <a:solidFill>
                <a:srgbClr val="2178F6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B5894-F671-5800-6220-B3214EC73B63}"/>
              </a:ext>
            </a:extLst>
          </p:cNvPr>
          <p:cNvSpPr txBox="1"/>
          <p:nvPr/>
        </p:nvSpPr>
        <p:spPr>
          <a:xfrm>
            <a:off x="406400" y="7874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51B37"/>
                </a:solidFill>
                <a:latin typeface="Aptos" panose="020B0004020202020204" pitchFamily="34" charset="0"/>
              </a:rPr>
              <a:t>Working MVP, measurable proof, scalable governed core</a:t>
            </a:r>
            <a:endParaRPr lang="en-MY" sz="2400" b="1">
              <a:solidFill>
                <a:srgbClr val="051B37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289D91-7757-D3D8-E055-4879C06DA46E}"/>
              </a:ext>
            </a:extLst>
          </p:cNvPr>
          <p:cNvCxnSpPr/>
          <p:nvPr/>
        </p:nvCxnSpPr>
        <p:spPr>
          <a:xfrm>
            <a:off x="406400" y="1219200"/>
            <a:ext cx="8331200" cy="0"/>
          </a:xfrm>
          <a:prstGeom prst="line">
            <a:avLst/>
          </a:prstGeom>
          <a:ln w="25400">
            <a:solidFill>
              <a:srgbClr val="26B7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4ED0BE-D381-9AE5-4EE6-4F6DDDD2F485}"/>
              </a:ext>
            </a:extLst>
          </p:cNvPr>
          <p:cNvSpPr/>
          <p:nvPr/>
        </p:nvSpPr>
        <p:spPr>
          <a:xfrm>
            <a:off x="482600" y="1409700"/>
            <a:ext cx="1422400" cy="9779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B7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5CB73-577B-5FBE-F1B5-27CF5942AAC9}"/>
              </a:ext>
            </a:extLst>
          </p:cNvPr>
          <p:cNvSpPr txBox="1"/>
          <p:nvPr/>
        </p:nvSpPr>
        <p:spPr>
          <a:xfrm>
            <a:off x="571500" y="1574800"/>
            <a:ext cx="124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2200" b="1">
                <a:solidFill>
                  <a:srgbClr val="26B7ED"/>
                </a:solidFill>
                <a:latin typeface="Aptos" panose="020B0004020202020204" pitchFamily="34" charset="0"/>
              </a:rPr>
              <a:t>30/30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F698C-FFA3-CE45-DF9E-0BB6596BC054}"/>
              </a:ext>
            </a:extLst>
          </p:cNvPr>
          <p:cNvSpPr txBox="1"/>
          <p:nvPr/>
        </p:nvSpPr>
        <p:spPr>
          <a:xfrm>
            <a:off x="571500" y="2006600"/>
            <a:ext cx="1244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19232D"/>
                </a:solidFill>
                <a:latin typeface="Aptos" panose="020B0004020202020204" pitchFamily="34" charset="0"/>
              </a:rPr>
              <a:t>Local tests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D8C368-1D09-9BE4-3580-1AAA62D808E7}"/>
              </a:ext>
            </a:extLst>
          </p:cNvPr>
          <p:cNvSpPr/>
          <p:nvPr/>
        </p:nvSpPr>
        <p:spPr>
          <a:xfrm>
            <a:off x="2171700" y="1409700"/>
            <a:ext cx="1422400" cy="9779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78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0D6E2-AC70-FF0A-ACFF-25C5015D96AA}"/>
              </a:ext>
            </a:extLst>
          </p:cNvPr>
          <p:cNvSpPr txBox="1"/>
          <p:nvPr/>
        </p:nvSpPr>
        <p:spPr>
          <a:xfrm>
            <a:off x="2260600" y="1574800"/>
            <a:ext cx="124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2200" b="1">
                <a:solidFill>
                  <a:srgbClr val="2178F6"/>
                </a:solidFill>
                <a:latin typeface="Aptos" panose="020B0004020202020204" pitchFamily="34" charset="0"/>
              </a:rPr>
              <a:t>28/28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631A2-7587-3A97-4DDB-C7B7B58257A0}"/>
              </a:ext>
            </a:extLst>
          </p:cNvPr>
          <p:cNvSpPr txBox="1"/>
          <p:nvPr/>
        </p:nvSpPr>
        <p:spPr>
          <a:xfrm>
            <a:off x="2260600" y="2006600"/>
            <a:ext cx="1244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19232D"/>
                </a:solidFill>
                <a:latin typeface="Aptos" panose="020B0004020202020204" pitchFamily="34" charset="0"/>
              </a:rPr>
              <a:t>Snowflake checks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49660E-6CF4-705E-F835-8542325E2459}"/>
              </a:ext>
            </a:extLst>
          </p:cNvPr>
          <p:cNvSpPr/>
          <p:nvPr/>
        </p:nvSpPr>
        <p:spPr>
          <a:xfrm>
            <a:off x="3860800" y="1409700"/>
            <a:ext cx="1422400" cy="9779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5A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DC983-B9AD-B7FD-F193-927C174F1A98}"/>
              </a:ext>
            </a:extLst>
          </p:cNvPr>
          <p:cNvSpPr txBox="1"/>
          <p:nvPr/>
        </p:nvSpPr>
        <p:spPr>
          <a:xfrm>
            <a:off x="3949700" y="1574800"/>
            <a:ext cx="124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2200" b="1">
                <a:solidFill>
                  <a:srgbClr val="7C5AEB"/>
                </a:solidFill>
                <a:latin typeface="Aptos" panose="020B0004020202020204" pitchFamily="34" charset="0"/>
              </a:rPr>
              <a:t>60.0%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31A255-8635-629A-A4E7-4A025E44D6C9}"/>
              </a:ext>
            </a:extLst>
          </p:cNvPr>
          <p:cNvSpPr txBox="1"/>
          <p:nvPr/>
        </p:nvSpPr>
        <p:spPr>
          <a:xfrm>
            <a:off x="3949700" y="2006600"/>
            <a:ext cx="1244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19232D"/>
                </a:solidFill>
                <a:latin typeface="Aptos" panose="020B0004020202020204" pitchFamily="34" charset="0"/>
              </a:rPr>
              <a:t>Consistent OTD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D0FE91-0FA4-8FFB-DD0B-00ECA885A357}"/>
              </a:ext>
            </a:extLst>
          </p:cNvPr>
          <p:cNvSpPr/>
          <p:nvPr/>
        </p:nvSpPr>
        <p:spPr>
          <a:xfrm>
            <a:off x="5549900" y="1409700"/>
            <a:ext cx="1422400" cy="9779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F5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E6EBE-5AC5-F427-FA79-DED182BE2C65}"/>
              </a:ext>
            </a:extLst>
          </p:cNvPr>
          <p:cNvSpPr txBox="1"/>
          <p:nvPr/>
        </p:nvSpPr>
        <p:spPr>
          <a:xfrm>
            <a:off x="5638800" y="1574800"/>
            <a:ext cx="124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2200" b="1">
                <a:solidFill>
                  <a:srgbClr val="EF5362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435F8-A351-0EE5-D353-21AC54915B47}"/>
              </a:ext>
            </a:extLst>
          </p:cNvPr>
          <p:cNvSpPr txBox="1"/>
          <p:nvPr/>
        </p:nvSpPr>
        <p:spPr>
          <a:xfrm>
            <a:off x="5638800" y="2006600"/>
            <a:ext cx="1244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19232D"/>
                </a:solidFill>
                <a:latin typeface="Aptos" panose="020B0004020202020204" pitchFamily="34" charset="0"/>
              </a:rPr>
              <a:t>Linked findings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915EF3E-3943-085B-FE92-53F61D4BF4C4}"/>
              </a:ext>
            </a:extLst>
          </p:cNvPr>
          <p:cNvSpPr/>
          <p:nvPr/>
        </p:nvSpPr>
        <p:spPr>
          <a:xfrm>
            <a:off x="7239000" y="1409700"/>
            <a:ext cx="1422400" cy="9779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C4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7AF405-8F9E-B444-34E2-8F452FC9F564}"/>
              </a:ext>
            </a:extLst>
          </p:cNvPr>
          <p:cNvSpPr txBox="1"/>
          <p:nvPr/>
        </p:nvSpPr>
        <p:spPr>
          <a:xfrm>
            <a:off x="7327900" y="1574800"/>
            <a:ext cx="124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2200" b="1">
                <a:solidFill>
                  <a:srgbClr val="2AC48C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D9637F-CF33-E477-2DEA-02F7E06C9726}"/>
              </a:ext>
            </a:extLst>
          </p:cNvPr>
          <p:cNvSpPr txBox="1"/>
          <p:nvPr/>
        </p:nvSpPr>
        <p:spPr>
          <a:xfrm>
            <a:off x="7327900" y="2006600"/>
            <a:ext cx="1244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19232D"/>
                </a:solidFill>
                <a:latin typeface="Aptos" panose="020B0004020202020204" pitchFamily="34" charset="0"/>
              </a:rPr>
              <a:t>Audit events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98EBD79-AB50-4838-FF82-9C10359C907F}"/>
              </a:ext>
            </a:extLst>
          </p:cNvPr>
          <p:cNvSpPr/>
          <p:nvPr/>
        </p:nvSpPr>
        <p:spPr>
          <a:xfrm>
            <a:off x="482600" y="2679700"/>
            <a:ext cx="3860800" cy="1676400"/>
          </a:xfrm>
          <a:prstGeom prst="roundRect">
            <a:avLst/>
          </a:prstGeom>
          <a:solidFill>
            <a:srgbClr val="E2F8EF"/>
          </a:solidFill>
          <a:ln w="15875">
            <a:solidFill>
              <a:srgbClr val="1FBE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C784FA-3A66-33CC-0EBF-5A71D119DC01}"/>
              </a:ext>
            </a:extLst>
          </p:cNvPr>
          <p:cNvSpPr/>
          <p:nvPr/>
        </p:nvSpPr>
        <p:spPr>
          <a:xfrm>
            <a:off x="482600" y="2679700"/>
            <a:ext cx="76200" cy="1676400"/>
          </a:xfrm>
          <a:prstGeom prst="rect">
            <a:avLst/>
          </a:prstGeom>
          <a:solidFill>
            <a:srgbClr val="1FBEB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4BD3B-7B34-CA0D-D7EF-1D51EFB3FDAC}"/>
              </a:ext>
            </a:extLst>
          </p:cNvPr>
          <p:cNvSpPr txBox="1"/>
          <p:nvPr/>
        </p:nvSpPr>
        <p:spPr>
          <a:xfrm>
            <a:off x="673100" y="2794000"/>
            <a:ext cx="3543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1FBEB1"/>
                </a:solidFill>
                <a:latin typeface="Aptos" panose="020B0004020202020204" pitchFamily="34" charset="0"/>
              </a:rPr>
              <a:t>WHAT THE MVP PROVES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1BE781-7D99-95A4-B0FE-42215D6BB88E}"/>
              </a:ext>
            </a:extLst>
          </p:cNvPr>
          <p:cNvSpPr txBox="1"/>
          <p:nvPr/>
        </p:nvSpPr>
        <p:spPr>
          <a:xfrm>
            <a:off x="673100" y="3136900"/>
            <a:ext cx="3543300" cy="9694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19232D"/>
                </a:solidFill>
                <a:latin typeface="Aptos" panose="020B0004020202020204" pitchFamily="34" charset="0"/>
              </a:rPr>
              <a:t>- Structured metrics and unstructured documents share one shipment context
- Failed or ambiguous extraction stays unresolved
- Unknown IDs, duplicate cases and illegal transitions are blocked
- Six connected pages preserve investigation context</a:t>
            </a:r>
            <a:endParaRPr lang="en-MY" sz="105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F677C2E-6970-C458-33E6-B85CCA690781}"/>
              </a:ext>
            </a:extLst>
          </p:cNvPr>
          <p:cNvSpPr/>
          <p:nvPr/>
        </p:nvSpPr>
        <p:spPr>
          <a:xfrm>
            <a:off x="4800600" y="2679700"/>
            <a:ext cx="3860800" cy="1676400"/>
          </a:xfrm>
          <a:prstGeom prst="roundRect">
            <a:avLst/>
          </a:prstGeom>
          <a:solidFill>
            <a:srgbClr val="E0EFFF"/>
          </a:solidFill>
          <a:ln w="15875">
            <a:solidFill>
              <a:srgbClr val="2178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623BF3-6E43-8266-5E67-C82092B8EE50}"/>
              </a:ext>
            </a:extLst>
          </p:cNvPr>
          <p:cNvSpPr/>
          <p:nvPr/>
        </p:nvSpPr>
        <p:spPr>
          <a:xfrm>
            <a:off x="4800600" y="2679700"/>
            <a:ext cx="76200" cy="1676400"/>
          </a:xfrm>
          <a:prstGeom prst="rect">
            <a:avLst/>
          </a:prstGeom>
          <a:solidFill>
            <a:srgbClr val="2178F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699ACB-3094-FFA3-E1E9-C7E3CC0CB0BF}"/>
              </a:ext>
            </a:extLst>
          </p:cNvPr>
          <p:cNvSpPr txBox="1"/>
          <p:nvPr/>
        </p:nvSpPr>
        <p:spPr>
          <a:xfrm>
            <a:off x="4991100" y="2794000"/>
            <a:ext cx="3543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2178F6"/>
                </a:solidFill>
                <a:latin typeface="Aptos" panose="020B0004020202020204" pitchFamily="34" charset="0"/>
              </a:rPr>
              <a:t>HOW IT EXTENDS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44FC41-58D5-5984-E674-E70EF3C1F965}"/>
              </a:ext>
            </a:extLst>
          </p:cNvPr>
          <p:cNvSpPr txBox="1"/>
          <p:nvPr/>
        </p:nvSpPr>
        <p:spPr>
          <a:xfrm>
            <a:off x="4991100" y="3136900"/>
            <a:ext cx="35433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19232D"/>
                </a:solidFill>
                <a:latin typeface="Aptos" panose="020B0004020202020204" pitchFamily="34" charset="0"/>
              </a:rPr>
              <a:t>Replace synthetic ingestion with live ERP, TMS, WMS, carrier, Gmail or extension connectors. The ontology, semantic definitions, evidence model, Agent guardrails, review workflow and audit layer remain reusable.</a:t>
            </a:r>
            <a:endParaRPr lang="en-MY" sz="1050">
              <a:solidFill>
                <a:srgbClr val="19232D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493D88-AC37-CA7E-F307-F85E31C86D4B}"/>
              </a:ext>
            </a:extLst>
          </p:cNvPr>
          <p:cNvSpPr txBox="1"/>
          <p:nvPr/>
        </p:nvSpPr>
        <p:spPr>
          <a:xfrm>
            <a:off x="698500" y="4533900"/>
            <a:ext cx="7747000" cy="1431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30" b="1">
                <a:solidFill>
                  <a:srgbClr val="576777"/>
                </a:solidFill>
                <a:latin typeface="Aptos" panose="020B0004020202020204" pitchFamily="34" charset="0"/>
              </a:rPr>
              <a:t>Provenance: all submitted business data is synthetic. The prior Chrome extension is disclosed background IP and is outside this runtime.</a:t>
            </a:r>
            <a:endParaRPr lang="en-MY" sz="930" b="1">
              <a:solidFill>
                <a:srgbClr val="576777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3CFCD1-6BFB-B112-B222-17588499A77B}"/>
              </a:ext>
            </a:extLst>
          </p:cNvPr>
          <p:cNvSpPr txBox="1"/>
          <p:nvPr/>
        </p:nvSpPr>
        <p:spPr>
          <a:xfrm>
            <a:off x="406400" y="4940300"/>
            <a:ext cx="317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750">
                <a:solidFill>
                  <a:srgbClr val="576777"/>
                </a:solidFill>
                <a:latin typeface="Aptos" panose="020B0004020202020204" pitchFamily="34" charset="0"/>
              </a:rPr>
              <a:t>VeriCargo OneTruth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B7598C-9964-1B1F-79C4-08EE66CA28AB}"/>
              </a:ext>
            </a:extLst>
          </p:cNvPr>
          <p:cNvSpPr txBox="1"/>
          <p:nvPr/>
        </p:nvSpPr>
        <p:spPr>
          <a:xfrm>
            <a:off x="8382000" y="4927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800" b="1">
                <a:solidFill>
                  <a:srgbClr val="2178F6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8710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252106-F87F-AFD2-CA3A-644167CE4D46}"/>
              </a:ext>
            </a:extLst>
          </p:cNvPr>
          <p:cNvSpPr/>
          <p:nvPr/>
        </p:nvSpPr>
        <p:spPr>
          <a:xfrm>
            <a:off x="1117600" y="3327400"/>
            <a:ext cx="6908800" cy="1282700"/>
          </a:xfrm>
          <a:prstGeom prst="roundRect">
            <a:avLst/>
          </a:prstGeom>
          <a:solidFill>
            <a:srgbClr val="051B37">
              <a:alpha val="84000"/>
            </a:srgbClr>
          </a:solidFill>
          <a:ln w="19050">
            <a:solidFill>
              <a:srgbClr val="26B7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35A0E-AF83-AFC7-9F7D-F6372EC370EE}"/>
              </a:ext>
            </a:extLst>
          </p:cNvPr>
          <p:cNvSpPr txBox="1"/>
          <p:nvPr/>
        </p:nvSpPr>
        <p:spPr>
          <a:xfrm>
            <a:off x="1397000" y="3479800"/>
            <a:ext cx="635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2100" b="1">
                <a:solidFill>
                  <a:srgbClr val="FFFFFF"/>
                </a:solidFill>
                <a:latin typeface="Aptos" panose="020B0004020202020204" pitchFamily="34" charset="0"/>
              </a:rPr>
              <a:t>VERICARGO ONETRUTH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D5B2C-58B5-8872-4011-50D5C8BFF8CB}"/>
              </a:ext>
            </a:extLst>
          </p:cNvPr>
          <p:cNvSpPr txBox="1"/>
          <p:nvPr/>
        </p:nvSpPr>
        <p:spPr>
          <a:xfrm>
            <a:off x="1397000" y="38608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26B7ED"/>
                </a:solidFill>
                <a:latin typeface="Aptos" panose="020B0004020202020204" pitchFamily="34" charset="0"/>
              </a:rPr>
              <a:t>Detected -&gt; evidenced -&gt; explained -&gt; human-confirmed -&gt; audited</a:t>
            </a:r>
            <a:endParaRPr lang="en-MY" sz="1200" b="1">
              <a:solidFill>
                <a:srgbClr val="26B7E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D7DF3-784C-A9C0-4553-850CEDF17D42}"/>
              </a:ext>
            </a:extLst>
          </p:cNvPr>
          <p:cNvSpPr txBox="1"/>
          <p:nvPr/>
        </p:nvSpPr>
        <p:spPr>
          <a:xfrm>
            <a:off x="1397000" y="41910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Aptos" panose="020B0004020202020204" pitchFamily="34" charset="0"/>
              </a:rPr>
              <a:t>Challenge: Supply Chain Ontology and Governed Conversational Analytics</a:t>
            </a:r>
            <a:endParaRPr lang="en-MY" sz="9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55CB0-6F11-F4BF-69AC-E34CED1D1DD8}"/>
              </a:ext>
            </a:extLst>
          </p:cNvPr>
          <p:cNvSpPr txBox="1"/>
          <p:nvPr/>
        </p:nvSpPr>
        <p:spPr>
          <a:xfrm>
            <a:off x="1397000" y="4419600"/>
            <a:ext cx="6350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850" b="1">
                <a:solidFill>
                  <a:srgbClr val="F5A623"/>
                </a:solidFill>
                <a:latin typeface="Aptos" panose="020B0004020202020204" pitchFamily="34" charset="0"/>
              </a:rPr>
              <a:t>Demo video: [PASTE FINAL 3-5 MINUTE LINK]</a:t>
            </a:r>
            <a:endParaRPr lang="en-MY" sz="850" b="1">
              <a:solidFill>
                <a:srgbClr val="F5A623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699</Words>
  <Application>Microsoft Office PowerPoint</Application>
  <PresentationFormat>On-screen Show (16:9)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SEE KENG LEK</cp:lastModifiedBy>
  <cp:revision>2</cp:revision>
  <dcterms:modified xsi:type="dcterms:W3CDTF">2026-10-04T17:22:51Z</dcterms:modified>
</cp:coreProperties>
</file>